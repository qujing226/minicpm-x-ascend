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9" r:id="rId10"/>
    <p:sldId id="260" r:id="rId11"/>
    <p:sldId id="282" r:id="rId33"/>
    <p:sldId id="269" r:id="rId20"/>
    <p:sldId id="270" r:id="rId21"/>
    <p:sldId id="271" r:id="rId22"/>
    <p:sldId id="272" r:id="rId23"/>
    <p:sldId id="273" r:id="rId24"/>
    <p:sldId id="274" r:id="rId25"/>
    <p:sldId id="283" r:id="rId34"/>
    <p:sldId id="284" r:id="rId35"/>
    <p:sldId id="285" r:id="rId36"/>
    <p:sldId id="286" r:id="rId37"/>
    <p:sldId id="289" r:id="rId40"/>
    <p:sldId id="287" r:id="rId38"/>
    <p:sldId id="288" r:id="rId39"/>
    <p:sldId id="290" r:id="rId4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25880"/>
            <a:ext cx="9875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A60AA"/>
                </a:solidFill>
                <a:latin typeface="PingFang SC"/>
              </a:defRPr>
            </a:pPr>
            <a:r>
              <a:t>MiniCPM X 昇腾</a:t>
            </a:r>
            <a:br/>
            <a:r>
              <a:t>推理性能优化和应用创新挑战赛解读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63240"/>
            <a:ext cx="9144" cy="9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6B7280"/>
                </a:solidFill>
                <a:latin typeface="Arial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371600" y="3931920"/>
            <a:ext cx="2743200" cy="50800"/>
          </a:xfrm>
          <a:prstGeom prst="rect">
            <a:avLst/>
          </a:prstGeom>
          <a:solidFill>
            <a:srgbClr val="E6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389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A1A2E"/>
                </a:solidFill>
                <a:latin typeface="Arial"/>
              </a:defRPr>
            </a:pPr>
            <a:r>
              <a:t>蔡天驰 (tc-mb)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937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B7280"/>
                </a:solidFill>
                <a:latin typeface="Arial"/>
              </a:defRPr>
            </a:pPr>
            <a:r>
              <a:t>面壁智能 (ModelBest)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394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  <a:latin typeface="Arial"/>
              </a:defRPr>
            </a:pPr>
            <a:r>
              <a:t>昇腾比赛 · 2026.07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0A2FF"/>
                </a:solidFill>
                <a:latin typeface="Arial"/>
              </a:defRPr>
            </a:pPr>
            <a:r>
              <a:t>MiniCPM-V / o 演进：能力螺旋上升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777240"/>
            <a:ext cx="1828800" cy="38100"/>
          </a:xfrm>
          <a:prstGeom prst="rect">
            <a:avLst/>
          </a:prstGeom>
          <a:solidFill>
            <a:srgbClr val="E6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737360" cy="914400"/>
          </a:xfrm>
          <a:prstGeom prst="rect">
            <a:avLst/>
          </a:prstGeom>
          <a:solidFill>
            <a:srgbClr val="3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V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图文理解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645920"/>
            <a:ext cx="914400" cy="381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3273552" y="1627632"/>
            <a:ext cx="109728" cy="109728"/>
          </a:xfrm>
          <a:prstGeom prst="triangl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280160"/>
            <a:ext cx="1737360" cy="914400"/>
          </a:xfrm>
          <a:prstGeom prst="rect">
            <a:avLst/>
          </a:prstGeom>
          <a:solidFill>
            <a:srgbClr val="3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32588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V 2.5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73736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多模态出圈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1645920"/>
            <a:ext cx="914400" cy="381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 rot="5400000">
            <a:off x="6016752" y="1627632"/>
            <a:ext cx="109728" cy="109728"/>
          </a:xfrm>
          <a:prstGeom prst="triangl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1737360" cy="914400"/>
          </a:xfrm>
          <a:prstGeom prst="rect">
            <a:avLst/>
          </a:prstGeom>
          <a:solidFill>
            <a:srgbClr val="3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32588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V 2.6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73736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+视频理解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80" y="1645920"/>
            <a:ext cx="914400" cy="381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5400000">
            <a:off x="8759952" y="1627632"/>
            <a:ext cx="109728" cy="109728"/>
          </a:xfrm>
          <a:prstGeom prst="triangl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1280160"/>
            <a:ext cx="1737360" cy="914400"/>
          </a:xfrm>
          <a:prstGeom prst="rect">
            <a:avLst/>
          </a:prstGeom>
          <a:solidFill>
            <a:srgbClr val="E6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132588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  <a:latin typeface="Arial"/>
              </a:defRPr>
            </a:pPr>
            <a:r>
              <a:t>o 2.6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73736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Arial"/>
              </a:defRPr>
            </a:pPr>
            <a:r>
              <a:t>+音频/半双工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3749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B7280"/>
                </a:solidFill>
                <a:latin typeface="Arial"/>
              </a:defRPr>
            </a:pPr>
            <a:r>
              <a:t>模型缩放线 · 降参上手机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749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B7280"/>
                </a:solidFill>
                <a:latin typeface="Arial"/>
              </a:defRPr>
            </a:pPr>
            <a:r>
              <a:t>交互升级线 · 全双工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114800"/>
            <a:ext cx="1737360" cy="914400"/>
          </a:xfrm>
          <a:prstGeom prst="rect">
            <a:avLst/>
          </a:prstGeom>
          <a:solidFill>
            <a:srgbClr val="3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1605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V 4.0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5720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4.1B 首上手机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68880" y="4480560"/>
            <a:ext cx="731520" cy="381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 rot="5400000">
            <a:off x="3090672" y="4462272"/>
            <a:ext cx="109728" cy="109728"/>
          </a:xfrm>
          <a:prstGeom prst="triangl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91839" y="4114800"/>
            <a:ext cx="1737360" cy="914400"/>
          </a:xfrm>
          <a:prstGeom prst="rect">
            <a:avLst/>
          </a:prstGeom>
          <a:solidFill>
            <a:srgbClr val="3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79" y="41605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V 4.5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79" y="45720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高刷新视频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199" y="4480560"/>
            <a:ext cx="731520" cy="381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 rot="5400000">
            <a:off x="5650991" y="4462272"/>
            <a:ext cx="109728" cy="109728"/>
          </a:xfrm>
          <a:prstGeom prst="triangl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852159" y="4114800"/>
            <a:ext cx="1737360" cy="914400"/>
          </a:xfrm>
          <a:prstGeom prst="rect">
            <a:avLst/>
          </a:prstGeom>
          <a:solidFill>
            <a:srgbClr val="3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599" y="41605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V 4.6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599" y="45720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1.3B 轻量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61120" y="4114800"/>
            <a:ext cx="1737360" cy="914400"/>
          </a:xfrm>
          <a:prstGeom prst="rect">
            <a:avLst/>
          </a:prstGeom>
          <a:solidFill>
            <a:srgbClr val="E6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52560" y="41605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  <a:latin typeface="Arial"/>
              </a:defRPr>
            </a:pPr>
            <a:r>
              <a:t>o 4.5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0" y="45720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Arial"/>
              </a:defRPr>
            </a:pPr>
            <a:r>
              <a:t>全双工 Omni-Flow</a:t>
            </a:r>
          </a:p>
        </p:txBody>
      </p:sp>
      <p:sp>
        <p:nvSpPr>
          <p:cNvPr id="41" name="Isosceles Triangle 40"/>
          <p:cNvSpPr/>
          <p:nvPr/>
        </p:nvSpPr>
        <p:spPr>
          <a:xfrm>
            <a:off x="9774936" y="2240280"/>
            <a:ext cx="109728" cy="109728"/>
          </a:xfrm>
          <a:prstGeom prst="triangl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Arial"/>
              </a:defRPr>
            </a:pPr>
            <a:r>
              <a:t>o 2.6 → o 4.5：从半双工到全双工。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7280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0A2FF"/>
                </a:solidFill>
                <a:latin typeface="Arial"/>
              </a:defRPr>
            </a:pPr>
            <a:r>
              <a:t>模型能力细节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828800" cy="50800"/>
          </a:xfrm>
          <a:prstGeom prst="rect">
            <a:avLst/>
          </a:prstGeom>
          <a:solidFill>
            <a:srgbClr val="E6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138160"/>
              </a:tblGrid>
              <a:tr h="3200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模型</a:t>
                      </a:r>
                    </a:p>
                  </a:txBody>
                  <a:tcPr>
                    <a:solidFill>
                      <a:srgbClr val="30A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LLM · 能力</a:t>
                      </a:r>
                    </a:p>
                  </a:txBody>
                  <a:tcPr>
                    <a:solidFill>
                      <a:srgbClr val="30A2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MiniCPM-V 2.0</a:t>
                      </a:r>
                    </a:p>
                  </a:txBody>
                  <a:tcPr>
                    <a:solidFill>
                      <a:srgbClr val="E8F4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8B · 图文问答、OCR</a:t>
                      </a:r>
                    </a:p>
                  </a:txBody>
                  <a:tcPr>
                    <a:solidFill>
                      <a:srgbClr val="E8F4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MiniCPM-V 2.5</a:t>
                      </a:r>
                    </a:p>
                  </a:txBody>
                  <a:tcPr>
                    <a:solidFill>
                      <a:srgbClr val="E8F4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8B · 升级多模态理解，社区大规模验证</a:t>
                      </a:r>
                    </a:p>
                  </a:txBody>
                  <a:tcPr>
                    <a:solidFill>
                      <a:srgbClr val="E8F4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MiniCPM-V 2.6</a:t>
                      </a:r>
                    </a:p>
                  </a:txBody>
                  <a:tcPr>
                    <a:solidFill>
                      <a:srgbClr val="E8F4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8B · +视频理解，端侧对标 GPT-4V</a:t>
                      </a:r>
                    </a:p>
                  </a:txBody>
                  <a:tcPr>
                    <a:solidFill>
                      <a:srgbClr val="E8F4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MiniCPM-o 2.6</a:t>
                      </a:r>
                    </a:p>
                  </a:txBody>
                  <a:tcPr>
                    <a:solidFill>
                      <a:srgbClr val="FFF6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8B · +音频+语音生成，首个端侧全模态</a:t>
                      </a:r>
                    </a:p>
                  </a:txBody>
                  <a:tcPr>
                    <a:solidFill>
                      <a:srgbClr val="FFF6D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MiniCPM-V 4.0</a:t>
                      </a:r>
                    </a:p>
                  </a:txBody>
                  <a:tcPr>
                    <a:solidFill>
                      <a:srgbClr val="E8F4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4.1B · 首个真正上手机的 V 系列</a:t>
                      </a:r>
                    </a:p>
                  </a:txBody>
                  <a:tcPr>
                    <a:solidFill>
                      <a:srgbClr val="E8F4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MiniCPM-V 4.5</a:t>
                      </a:r>
                    </a:p>
                  </a:txBody>
                  <a:tcPr>
                    <a:solidFill>
                      <a:srgbClr val="E8F4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4.1B · +高刷新视频理解</a:t>
                      </a:r>
                    </a:p>
                  </a:txBody>
                  <a:tcPr>
                    <a:solidFill>
                      <a:srgbClr val="E8F4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MiniCPM-o 4.5</a:t>
                      </a:r>
                    </a:p>
                  </a:txBody>
                  <a:tcPr>
                    <a:solidFill>
                      <a:srgbClr val="FFF6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9B · 全双工 Omni-Flow，视觉达 Gemini 2.5 Flash</a:t>
                      </a:r>
                    </a:p>
                  </a:txBody>
                  <a:tcPr>
                    <a:solidFill>
                      <a:srgbClr val="FFF6D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MiniCPM-V 4.6</a:t>
                      </a:r>
                    </a:p>
                  </a:txBody>
                  <a:tcPr>
                    <a:solidFill>
                      <a:srgbClr val="E8F4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1.3B · V 4.5 轻量化，手机可跑</a:t>
                      </a:r>
                    </a:p>
                  </a:txBody>
                  <a:tcPr>
                    <a:solidFill>
                      <a:srgbClr val="E8F4F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7280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30A2FF"/>
                </a:solidFill>
                <a:latin typeface="PingFang SC"/>
              </a:defRPr>
            </a:pPr>
            <a:r>
              <a:t>二、MiniCPM-o 4.5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1A1A2E"/>
                </a:solidFill>
                <a:latin typeface="Arial"/>
              </a:defRPr>
            </a:pPr>
            <a:r>
              <a:t>全双工实时多模态交互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749039"/>
            <a:ext cx="2286000" cy="50800"/>
          </a:xfrm>
          <a:prstGeom prst="rect">
            <a:avLst/>
          </a:prstGeom>
          <a:solidFill>
            <a:srgbClr val="E6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0">
                <a:solidFill>
                  <a:srgbClr val="4A4A5A"/>
                </a:solidFill>
                <a:latin typeface="Arial"/>
              </a:defRPr>
            </a:pPr>
            <a:r>
              <a:t>从 o 2.6 的半双工交互，到 o 4.5 的 Omni-Flow 全双工交互。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7280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0A2FF"/>
                </a:solidFill>
                <a:latin typeface="Arial"/>
              </a:defRPr>
            </a:pPr>
            <a:r>
              <a:t>为什么需要全双工？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1828800" cy="50800"/>
          </a:xfrm>
          <a:prstGeom prst="rect">
            <a:avLst/>
          </a:prstGeom>
          <a:solidFill>
            <a:srgbClr val="E6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Arial"/>
              </a:defRPr>
            </a:pPr>
            <a:r>
              <a:t>人类交互天然是全双工的。全双工不是为了让模型“更快回答”，而是为了获得三种能力：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743200"/>
            <a:ext cx="3291840" cy="19202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0175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0A2FF"/>
                </a:solidFill>
                <a:latin typeface="Arial"/>
              </a:defRPr>
            </a:pPr>
            <a:r>
              <a:t>持续感知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6576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A4A5A"/>
                </a:solidFill>
                <a:latin typeface="Arial"/>
              </a:defRPr>
            </a:pPr>
            <a:r>
              <a:t>回复过程中仍能接收新的</a:t>
            </a:r>
            <a:br/>
            <a:r>
              <a:t>视觉和语音信息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2743200"/>
            <a:ext cx="3291840" cy="19202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30175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E8C3A"/>
                </a:solidFill>
                <a:latin typeface="Arial"/>
              </a:defRPr>
            </a:pPr>
            <a:r>
              <a:t>及时调整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36576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A4A5A"/>
                </a:solidFill>
                <a:latin typeface="Arial"/>
              </a:defRPr>
            </a:pPr>
            <a:r>
              <a:t>用户打断、摇头或环境变化时，</a:t>
            </a:r>
            <a:br/>
            <a:r>
              <a:t>当前回复可随之变化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2743200"/>
            <a:ext cx="3291840" cy="19202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30175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6A000"/>
                </a:solidFill>
                <a:latin typeface="Arial"/>
              </a:defRPr>
            </a:pPr>
            <a:r>
              <a:t>主动交互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36576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A4A5A"/>
                </a:solidFill>
                <a:latin typeface="Arial"/>
              </a:defRPr>
            </a:pPr>
            <a:r>
              <a:t>不必等待明确提问，也能基于</a:t>
            </a:r>
            <a:br/>
            <a:r>
              <a:t>持续理解作出提醒或评论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Arial"/>
              </a:defRPr>
            </a:pPr>
            <a:r>
              <a:t>下一页再看 o 2.6 的半双工模式与 o 4.5 全双工模式，在实现和行为上的具体区别。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7280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0A2FF"/>
                </a:solidFill>
                <a:latin typeface="Arial"/>
              </a:defRPr>
            </a:pPr>
            <a:r>
              <a:t>半双工 vs 全双工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1828800" cy="50800"/>
          </a:xfrm>
          <a:prstGeom prst="rect">
            <a:avLst/>
          </a:prstGeom>
          <a:solidFill>
            <a:srgbClr val="E6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60AA"/>
                </a:solidFill>
                <a:latin typeface="Arial"/>
              </a:defRPr>
            </a:pPr>
            <a:r>
              <a:t>半双工 (o 2.6)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A4A5A"/>
                </a:solidFill>
                <a:latin typeface="Arial"/>
              </a:defRPr>
            </a:pPr>
            <a:r>
              <a:t>User 说话 → 模型听 → User 停</a:t>
            </a:r>
            <a:br/>
            <a:r>
              <a:t>→ 模型说 → 再循环 ...</a:t>
            </a:r>
            <a:br/>
            <a:br/>
            <a:r>
              <a:t>同一时刻只能进行输入或输出</a:t>
            </a:r>
            <a:br/>
            <a:r>
              <a:t>支持语音与视觉理解</a:t>
            </a:r>
            <a:br/>
            <a:r>
              <a:t>但感知和生成仍然交替进行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E8C3A"/>
                </a:solidFill>
                <a:latin typeface="Arial"/>
              </a:defRPr>
            </a:pPr>
            <a:r>
              <a:t>全双工 (o 4.5)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860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Arial"/>
              </a:defRPr>
            </a:pPr>
            <a:r>
              <a:t>同时听、看、说</a:t>
            </a:r>
            <a:br/>
            <a:r>
              <a:t>不只被动响应，还能主动发言</a:t>
            </a:r>
            <a:br/>
            <a:br/>
            <a:r>
              <a:t>Omni-Flow：用分时复用 (TDM)</a:t>
            </a:r>
            <a:br/>
            <a:r>
              <a:t>把所有模态放到一条时间轴上</a:t>
            </a:r>
            <a:br/>
            <a:br/>
            <a:r>
              <a:t>o 2.6 → o 4.5</a:t>
            </a:r>
            <a:br/>
            <a:r>
              <a:t>不是加一个模态</a:t>
            </a:r>
            <a:br/>
            <a:r>
              <a:t>是交互模型的根本改变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7280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0A2FF"/>
                </a:solidFill>
                <a:latin typeface="Arial"/>
              </a:defRPr>
            </a:pPr>
            <a:r>
              <a:t>从 turn-based 到全双工流式交互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914400"/>
            <a:ext cx="1828800" cy="38100"/>
          </a:xfrm>
          <a:prstGeom prst="rect">
            <a:avLst/>
          </a:prstGeom>
          <a:solidFill>
            <a:srgbClr val="E6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x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51560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Arial"/>
              </a:defRPr>
            </a:pPr>
            <a:r>
              <a:t>现有交互将感知和响应分为交替阶段 →  全双工下模型持续感知输入流同时生成语音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7280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0A2FF"/>
                </a:solidFill>
                <a:latin typeface="Arial"/>
              </a:defRPr>
            </a:pPr>
            <a:r>
              <a:t>TDM 时间分片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1828800" cy="50800"/>
          </a:xfrm>
          <a:prstGeom prst="rect">
            <a:avLst/>
          </a:prstGeom>
          <a:solidFill>
            <a:srgbClr val="E6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Arial"/>
              </a:defRPr>
            </a:pPr>
            <a:r>
              <a:t>把连续交互切为固定的 1 秒窗口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926080"/>
            <a:ext cx="3200400" cy="1371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1546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0A2FF"/>
                </a:solidFill>
                <a:latin typeface="Arial"/>
              </a:defRPr>
            </a:pPr>
            <a:r>
              <a:t>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1188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4A5A"/>
                </a:solidFill>
                <a:latin typeface="Arial"/>
              </a:defRPr>
            </a:pPr>
            <a:r>
              <a:t>新到的视觉 / 音频信号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2926080"/>
            <a:ext cx="3200400" cy="1371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31546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60AA"/>
                </a:solidFill>
                <a:latin typeface="Arial"/>
              </a:defRPr>
            </a:pPr>
            <a:r>
              <a:t>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61188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4A5A"/>
                </a:solidFill>
                <a:latin typeface="Arial"/>
              </a:defRPr>
            </a:pPr>
            <a:r>
              <a:t>是否该说话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2926080"/>
            <a:ext cx="3200400" cy="1371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31546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E8C3A"/>
                </a:solidFill>
                <a:latin typeface="Arial"/>
              </a:defRPr>
            </a:pPr>
            <a:r>
              <a:t>输出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61188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4A5A"/>
                </a:solidFill>
                <a:latin typeface="Arial"/>
              </a:defRPr>
            </a:pPr>
            <a:r>
              <a:t>&lt;|speak|&gt; / &lt;|listen|&gt;\n+ 文本和语音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Arial"/>
              </a:defRPr>
            </a:pPr>
            <a:r>
              <a:t>每个窗口内：先处理新信号 → 再决定是否发言 → 生成输出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B7280"/>
                </a:solidFill>
                <a:latin typeface="Arial"/>
              </a:defRPr>
            </a:pPr>
            <a:r>
              <a:t>窗口越短，环境刷新越快；但每个窗口留给理解、控制和生成的预算越少。实验中 1 秒是响应性和交互质量的最佳平衡。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7280"/>
                </a:solidFill>
                <a:latin typeface="Arial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0A2FF"/>
                </a:solidFill>
                <a:latin typeface="Arial"/>
              </a:defRPr>
            </a:pPr>
            <a:r>
              <a:t>Omni-Flow 架构 · 端到端全模态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1828800" cy="50800"/>
          </a:xfrm>
          <a:prstGeom prst="rect">
            <a:avLst/>
          </a:prstGeom>
          <a:solidFill>
            <a:srgbClr val="E6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x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287" y="1298448"/>
            <a:ext cx="6675120" cy="48485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281928"/>
            <a:ext cx="1033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PingFang SC"/>
              </a:defRPr>
            </a:pPr>
            <a:r>
              <a:t>关键选择：语言模型专注理解和表达，语音模块专注声音生成。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7280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1A60AA"/>
                </a:solidFill>
                <a:latin typeface="Arial"/>
              </a:defRPr>
            </a:pPr>
            <a:r>
              <a:t>谢谢！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017520"/>
            <a:ext cx="2743200" cy="50800"/>
          </a:xfrm>
          <a:prstGeom prst="rect">
            <a:avLst/>
          </a:prstGeom>
          <a:solidFill>
            <a:srgbClr val="E6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B7280"/>
                </a:solidFill>
                <a:latin typeface="Arial"/>
              </a:defRPr>
            </a:pPr>
            <a:r>
              <a:t>蔡天驰 · tc-mb · github.com/tc-mb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Arial"/>
              </a:defRPr>
            </a:pPr>
            <a:r>
              <a:t>昇腾比赛 · 2026.07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0A2FF"/>
                </a:solidFill>
                <a:latin typeface="PingFang SC"/>
              </a:defRPr>
            </a:pPr>
            <a:r>
              <a:t>MiniCPM-Robot：从理解走向行动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43000"/>
            <a:ext cx="1828800" cy="50800"/>
          </a:xfrm>
          <a:prstGeom prst="rect">
            <a:avLst/>
          </a:prstGeom>
          <a:solidFill>
            <a:srgbClr val="E6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  <a:latin typeface="PingFang SC"/>
              </a:defRPr>
            </a:pPr>
            <a:r>
              <a:t>最新公开的具身智能模型系列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1A1A2E"/>
                </a:solidFill>
                <a:latin typeface="PingFang SC"/>
              </a:defRPr>
            </a:pPr>
            <a:r>
              <a:t>把视觉和语言理解延展为机器人的感知、决策与行动。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709160" y="2542032"/>
            <a:ext cx="2743200" cy="38100"/>
          </a:xfrm>
          <a:prstGeom prst="rect">
            <a:avLst/>
          </a:prstGeom>
          <a:solidFill>
            <a:srgbClr val="E6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3154680"/>
            <a:ext cx="3200400" cy="16916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4290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30A2FF"/>
                </a:solidFill>
                <a:latin typeface="PingFang SC"/>
              </a:defRPr>
            </a:pPr>
            <a:r>
              <a:t>RobotManip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977639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1A1A2E"/>
                </a:solidFill>
                <a:latin typeface="PingFang SC"/>
              </a:defRPr>
            </a:pPr>
            <a:r>
              <a:t>1.5B 通用 VLA</a:t>
            </a:r>
            <a:br/>
            <a:r>
              <a:t>机器人操作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3154680"/>
            <a:ext cx="3200400" cy="16916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34290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0E8C3A"/>
                </a:solidFill>
                <a:latin typeface="PingFang SC"/>
              </a:defRPr>
            </a:pPr>
            <a:r>
              <a:t>RobotTrack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977639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1A1A2E"/>
                </a:solidFill>
                <a:latin typeface="PingFang SC"/>
              </a:defRPr>
            </a:pPr>
            <a:r>
              <a:t>0.9B VLA</a:t>
            </a:r>
            <a:br/>
            <a:r>
              <a:t>目标跟踪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3154680"/>
            <a:ext cx="3200400" cy="16916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34290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E6A000"/>
                </a:solidFill>
                <a:latin typeface="PingFang SC"/>
              </a:defRPr>
            </a:pPr>
            <a:r>
              <a:t>PhyAI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3977639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1A1A2E"/>
                </a:solidFill>
                <a:latin typeface="PingFang SC"/>
              </a:defRPr>
            </a:pPr>
            <a:r>
              <a:t>具身模型</a:t>
            </a:r>
            <a:br/>
            <a:r>
              <a:t>推理框架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62356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6B7280"/>
                </a:solidFill>
                <a:latin typeface="PingFang SC"/>
              </a:defRPr>
            </a:pPr>
            <a:r>
              <a:t>RobotManip 负责操作，RobotTrack 负责跟踪，PhyAI 为端侧具身推理提供运行支撑。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30A2FF"/>
                </a:solidFill>
                <a:latin typeface="PingFang SC"/>
              </a:defRPr>
            </a:pPr>
            <a:r>
              <a:t>三、性能赛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88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1A1A2E"/>
                </a:solidFill>
                <a:latin typeface="PingFang SC"/>
              </a:defRPr>
            </a:pPr>
            <a:r>
              <a:t>MiniCPM-o 4.5 推理性能优化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657600"/>
            <a:ext cx="2377440" cy="50800"/>
          </a:xfrm>
          <a:prstGeom prst="rect">
            <a:avLst/>
          </a:prstGeom>
          <a:solidFill>
            <a:srgbClr val="E6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60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6B7280"/>
                </a:solidFill>
                <a:latin typeface="PingFang SC"/>
              </a:defRPr>
            </a:pPr>
            <a:r>
              <a:t>围绕 MiniCPM-o 4.5，优化端到端全双工推理性能。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0A2FF"/>
                </a:solidFill>
                <a:latin typeface="PingFang SC"/>
              </a:defRPr>
            </a:pPr>
            <a:r>
              <a:t>性能赛：评测规则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43000"/>
            <a:ext cx="1828800" cy="50800"/>
          </a:xfrm>
          <a:prstGeom prst="rect">
            <a:avLst/>
          </a:prstGeom>
          <a:solidFill>
            <a:srgbClr val="E6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A1A2E"/>
                </a:solidFill>
                <a:latin typeface="PingFang SC"/>
              </a:defRPr>
            </a:pPr>
            <a:r>
              <a:t>先满足准入条件，再比较实时性能。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2331720"/>
            <a:ext cx="4617720" cy="150876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4251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30A2FF"/>
                </a:solidFill>
                <a:latin typeface="PingFang SC"/>
              </a:defRPr>
            </a:pPr>
            <a:r>
              <a:t>精度达标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127248"/>
            <a:ext cx="4251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1A1A2E"/>
                </a:solidFill>
                <a:latin typeface="PingFang SC"/>
              </a:defRPr>
            </a:pPr>
            <a:r>
              <a:t>相对基线的精度降幅</a:t>
            </a:r>
            <a:br/>
            <a:r>
              <a:t>不超过 2 个百分点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331720"/>
            <a:ext cx="4617720" cy="150876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606040"/>
            <a:ext cx="4251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0E8C3A"/>
                </a:solidFill>
                <a:latin typeface="PingFang SC"/>
              </a:defRPr>
            </a:pPr>
            <a:r>
              <a:t>Demo 可用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127248"/>
            <a:ext cx="4251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1A1A2E"/>
                </a:solidFill>
                <a:latin typeface="PingFang SC"/>
              </a:defRPr>
            </a:pPr>
            <a:r>
              <a:t>优化版本可正常接入 Demo，</a:t>
            </a:r>
            <a:br/>
            <a:r>
              <a:t>完成稳定的端到端使用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57400" y="4617720"/>
            <a:ext cx="8092440" cy="1005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80" y="4828032"/>
            <a:ext cx="7726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1A60AA"/>
                </a:solidFill>
                <a:latin typeface="PingFang SC"/>
              </a:defRPr>
            </a:pPr>
            <a:r>
              <a:t>核心指标：每个 chunk 的 RTF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5230368"/>
            <a:ext cx="77266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B7280"/>
                </a:solidFill>
                <a:latin typeface="PingFang SC"/>
              </a:defRPr>
            </a:pPr>
            <a:r>
              <a:t>在满足精度与 Demo 可用性的前提下，RTF 越低，实时性越好。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0A2FF"/>
                </a:solidFill>
                <a:latin typeface="PingFang SC"/>
              </a:defRPr>
            </a:pPr>
            <a:r>
              <a:t>实测数据：单 chunk 端到端延迟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43000"/>
            <a:ext cx="1828800" cy="50800"/>
          </a:xfrm>
          <a:prstGeom prst="rect">
            <a:avLst/>
          </a:prstGeom>
          <a:solidFill>
            <a:srgbClr val="E6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  <a:latin typeface="PingFang SC"/>
              </a:defRPr>
            </a:pPr>
            <a:r>
              <a:t>RTX 4090 实测</a:t>
            </a:r>
          </a:p>
        </p:txBody>
      </p:sp>
      <p:pic>
        <p:nvPicPr>
          <p:cNvPr id="6" name="Picture 5" descr="2504a8ec4ea8e0229cc3dff8c2dddb6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928" y="1417320"/>
            <a:ext cx="877824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0A2FF"/>
                </a:solidFill>
                <a:latin typeface="PingFang SC"/>
              </a:defRPr>
            </a:pPr>
            <a:r>
              <a:t>实测数据：全双工链路阶段耗时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43000"/>
            <a:ext cx="1828800" cy="50800"/>
          </a:xfrm>
          <a:prstGeom prst="rect">
            <a:avLst/>
          </a:prstGeom>
          <a:solidFill>
            <a:srgbClr val="E6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  <a:latin typeface="PingFang SC"/>
              </a:defRPr>
            </a:pPr>
            <a:r>
              <a:t>RTX 4090 实测</a:t>
            </a:r>
          </a:p>
        </p:txBody>
      </p:sp>
      <p:pic>
        <p:nvPicPr>
          <p:cNvPr id="6" name="Picture 5" descr="0f9dbe171526b0c4f8b8349cd95345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928" y="1417320"/>
            <a:ext cx="877824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0A2FF"/>
                </a:solidFill>
                <a:latin typeface="PingFang SC"/>
              </a:defRPr>
            </a:pPr>
            <a:r>
              <a:t>四、创意赛：让照片成为 AR 睡前故事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43000"/>
            <a:ext cx="1828800" cy="50800"/>
          </a:xfrm>
          <a:prstGeom prst="rect">
            <a:avLst/>
          </a:prstGeom>
          <a:solidFill>
            <a:srgbClr val="E6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  <a:latin typeface="PingFang SC"/>
              </a:defRPr>
            </a:pPr>
            <a:r>
              <a:t>Hugging Face Build Small Hackathon · MiniCPM 赛道 TOP 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057400"/>
            <a:ext cx="3246120" cy="196596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0A2FF"/>
                </a:solidFill>
                <a:latin typeface="PingFang SC"/>
              </a:defRPr>
            </a:pPr>
            <a:r>
              <a:t>照片 -&gt; 3D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1A1A2E"/>
                </a:solidFill>
                <a:latin typeface="PingFang SC"/>
              </a:defRPr>
            </a:pPr>
            <a:r>
              <a:t>Apple Sharp 将照片转为</a:t>
            </a:r>
            <a:br/>
            <a:r>
              <a:t>3D Gaussian Splat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057400"/>
            <a:ext cx="3246120" cy="196596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42316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60AA"/>
                </a:solidFill>
                <a:latin typeface="PingFang SC"/>
              </a:defRPr>
            </a:pPr>
            <a:r>
              <a:t>进入 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017520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1A1A2E"/>
                </a:solidFill>
                <a:latin typeface="PingFang SC"/>
              </a:defRPr>
            </a:pPr>
            <a:r>
              <a:t>WebXR 将故事带入</a:t>
            </a:r>
            <a:br/>
            <a:r>
              <a:t>沉浸式空间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2057400"/>
            <a:ext cx="3246120" cy="196596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42316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E8C3A"/>
                </a:solidFill>
                <a:latin typeface="PingFang SC"/>
              </a:defRPr>
            </a:pPr>
            <a:r>
              <a:t>实时对话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017520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1A1A2E"/>
                </a:solidFill>
                <a:latin typeface="PingFang SC"/>
              </a:defRPr>
            </a:pPr>
            <a:r>
              <a:t>MiniCPM-o 4.5 看图、</a:t>
            </a:r>
            <a:br/>
            <a:r>
              <a:t>语音互动与 grounding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92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A1A2E"/>
                </a:solidFill>
                <a:latin typeface="PingFang SC"/>
              </a:defRPr>
            </a:pPr>
            <a:r>
              <a:t>一张照片成为可进入、可对话、可持续讲述的 AR 故事。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144768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PingFang SC"/>
              </a:defRPr>
            </a:pPr>
            <a:r>
              <a:t>来源：Build Small Hackathon 项目 grandpas-bedtime-stories；MiniCPM-o 4.5、Apple Sharp、VoxCPM2。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0A2FF"/>
                </a:solidFill>
                <a:latin typeface="PingFang SC"/>
              </a:defRPr>
            </a:pPr>
            <a:r>
              <a:t>创意赛案例：AR 睡前故事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43000"/>
            <a:ext cx="1828800" cy="50800"/>
          </a:xfrm>
          <a:prstGeom prst="rect">
            <a:avLst/>
          </a:prstGeom>
          <a:solidFill>
            <a:srgbClr val="E6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  <a:latin typeface="PingFang SC"/>
              </a:defRPr>
            </a:pPr>
            <a:r>
              <a:t>Demo 运行画面</a:t>
            </a:r>
          </a:p>
        </p:txBody>
      </p:sp>
      <p:pic>
        <p:nvPicPr>
          <p:cNvPr id="6" name="Picture 5" descr="grandpas_demo_30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27632"/>
            <a:ext cx="3429000" cy="2670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449884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0A2FF"/>
                </a:solidFill>
                <a:latin typeface="PingFang SC"/>
              </a:defRPr>
            </a:pPr>
            <a:r>
              <a:t>上传照片</a:t>
            </a:r>
          </a:p>
        </p:txBody>
      </p:sp>
      <p:pic>
        <p:nvPicPr>
          <p:cNvPr id="8" name="Picture 7" descr="grandpas_demo_60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1627632"/>
            <a:ext cx="3429000" cy="2670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79392" y="449884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60AA"/>
                </a:solidFill>
                <a:latin typeface="PingFang SC"/>
              </a:defRPr>
            </a:pPr>
            <a:r>
              <a:t>进入 AR 场景</a:t>
            </a:r>
          </a:p>
        </p:txBody>
      </p:sp>
      <p:pic>
        <p:nvPicPr>
          <p:cNvPr id="10" name="Picture 9" descr="grandpas_demo_90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24" y="1627632"/>
            <a:ext cx="3429000" cy="26700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64424" y="449884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E8C3A"/>
                </a:solidFill>
                <a:latin typeface="PingFang SC"/>
              </a:defRPr>
            </a:pPr>
            <a:r>
              <a:t>MiniCPM-o 实时对话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0A2FF"/>
                </a:solidFill>
                <a:latin typeface="PingFang SC"/>
              </a:defRPr>
            </a:pPr>
            <a:r>
              <a:t>后续分享：vLLM-Omni 性能子赛道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43000"/>
            <a:ext cx="1828800" cy="50800"/>
          </a:xfrm>
          <a:prstGeom prst="rect">
            <a:avLst/>
          </a:prstGeom>
          <a:solidFill>
            <a:srgbClr val="E6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874519"/>
            <a:ext cx="9966960" cy="20574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450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A1A2E"/>
                </a:solidFill>
                <a:latin typeface="PingFang SC"/>
              </a:defRPr>
            </a:pPr>
            <a:r>
              <a:t>基于 vLLM-Omni 的语音模型</a:t>
            </a:r>
            <a:br/>
            <a:r>
              <a:t>推理性能优化及 NPU 实践</a:t>
            </a:r>
          </a:p>
        </p:txBody>
      </p:sp>
      <p:sp>
        <p:nvSpPr>
          <p:cNvPr id="7" name="Rectangle 6"/>
          <p:cNvSpPr/>
          <p:nvPr/>
        </p:nvSpPr>
        <p:spPr>
          <a:xfrm>
            <a:off x="3794760" y="4709160"/>
            <a:ext cx="4572000" cy="50800"/>
          </a:xfrm>
          <a:prstGeom prst="rect">
            <a:avLst/>
          </a:prstGeom>
          <a:solidFill>
            <a:srgbClr val="E6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2578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0E8C3A"/>
                </a:solidFill>
                <a:latin typeface="PingFang SC"/>
              </a:defRPr>
            </a:pPr>
            <a:r>
              <a:t>由 vLLM-Omni 成员进一步介绍。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0A2FF"/>
                </a:solidFill>
                <a:latin typeface="PingFang SC"/>
              </a:defRPr>
            </a:pPr>
            <a:r>
              <a:t>创意赛：后续硬件分享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43000"/>
            <a:ext cx="1828800" cy="50800"/>
          </a:xfrm>
          <a:prstGeom prst="rect">
            <a:avLst/>
          </a:prstGeom>
          <a:solidFill>
            <a:srgbClr val="E6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874519"/>
            <a:ext cx="9966960" cy="20574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450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A1A2E"/>
                </a:solidFill>
                <a:latin typeface="PingFang SC"/>
              </a:defRPr>
            </a:pPr>
            <a:r>
              <a:t>基于 MiniCPM-o 的情感陪伴</a:t>
            </a:r>
            <a:br/>
            <a:r>
              <a:t>机器人探索与落地</a:t>
            </a:r>
          </a:p>
        </p:txBody>
      </p:sp>
      <p:sp>
        <p:nvSpPr>
          <p:cNvPr id="7" name="Rectangle 6"/>
          <p:cNvSpPr/>
          <p:nvPr/>
        </p:nvSpPr>
        <p:spPr>
          <a:xfrm>
            <a:off x="3794760" y="4709160"/>
            <a:ext cx="4572000" cy="50800"/>
          </a:xfrm>
          <a:prstGeom prst="rect">
            <a:avLst/>
          </a:prstGeom>
          <a:solidFill>
            <a:srgbClr val="E6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2578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0E8C3A"/>
                </a:solidFill>
                <a:latin typeface="PingFang SC"/>
              </a:defRPr>
            </a:pPr>
            <a:r>
              <a:t>硬件结合的具身应用创新。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