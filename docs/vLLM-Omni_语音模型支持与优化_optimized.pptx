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83" r:id="rId4"/>
    <p:sldId id="281" r:id="rId6"/>
    <p:sldId id="258" r:id="rId7"/>
    <p:sldId id="260" r:id="rId8"/>
    <p:sldId id="264" r:id="rId9"/>
    <p:sldId id="265" r:id="rId10"/>
    <p:sldId id="267" r:id="rId11"/>
    <p:sldId id="280" r:id="rId12"/>
    <p:sldId id="268" r:id="rId13"/>
    <p:sldId id="270" r:id="rId14"/>
    <p:sldId id="286" r:id="rId15"/>
    <p:sldId id="271" r:id="rId16"/>
    <p:sldId id="279" r:id="rId17"/>
    <p:sldId id="274" r:id="rId18"/>
    <p:sldId id="285" r:id="rId19"/>
    <p:sldId id="282" r:id="rId20"/>
    <p:sldId id="284" r:id="rId21"/>
    <p:sldId id="278" r:id="rId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9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12:notes"/>
          <p:cNvSpPr/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8" name="Google Shape;358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0"/>
          <p:cNvSpPr txBox="1"/>
          <p:nvPr>
            <p:ph type="title"/>
          </p:nvPr>
        </p:nvSpPr>
        <p:spPr>
          <a:xfrm>
            <a:off x="415578" y="288567"/>
            <a:ext cx="11360208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Lexend"/>
              <a:buNone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" name="Google Shape;23;p30"/>
          <p:cNvSpPr txBox="1"/>
          <p:nvPr>
            <p:ph type="body" idx="1"/>
          </p:nvPr>
        </p:nvSpPr>
        <p:spPr>
          <a:xfrm>
            <a:off x="415578" y="1231833"/>
            <a:ext cx="11360208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600" lvl="0" indent="-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1pPr>
            <a:lvl2pPr marL="1219200" lvl="1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2pPr>
            <a:lvl3pPr marL="1828800" lvl="2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2438400" lvl="3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4pPr>
            <a:lvl5pPr marL="3048000" lvl="4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3657600" lvl="5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6pPr>
            <a:lvl7pPr marL="4267200" lvl="6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●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4876800" lvl="7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○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5486400" lvl="8" indent="-42354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Lexend"/>
              <a:buChar char="■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" name="Google Shape;24;p30"/>
          <p:cNvSpPr txBox="1"/>
          <p:nvPr>
            <p:ph type="sldNum" idx="12"/>
          </p:nvPr>
        </p:nvSpPr>
        <p:spPr>
          <a:xfrm>
            <a:off x="11296022" y="6217623"/>
            <a:ext cx="731562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335" b="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  <p:grpSp>
        <p:nvGrpSpPr>
          <p:cNvPr id="25" name="Google Shape;25;p30"/>
          <p:cNvGrpSpPr/>
          <p:nvPr/>
        </p:nvGrpSpPr>
        <p:grpSpPr>
          <a:xfrm>
            <a:off x="8704347" y="6300896"/>
            <a:ext cx="3403683" cy="435848"/>
            <a:chOff x="6595212" y="4786956"/>
            <a:chExt cx="2552895" cy="326886"/>
          </a:xfrm>
        </p:grpSpPr>
        <p:pic>
          <p:nvPicPr>
            <p:cNvPr id="26" name="Google Shape;26;p30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6595212" y="4786956"/>
              <a:ext cx="788100" cy="32688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7" name="Google Shape;27;p30"/>
            <p:cNvCxnSpPr/>
            <p:nvPr/>
          </p:nvCxnSpPr>
          <p:spPr>
            <a:xfrm>
              <a:off x="7437416" y="4786956"/>
              <a:ext cx="0" cy="3012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</p:cxnSp>
        <p:pic>
          <p:nvPicPr>
            <p:cNvPr id="28" name="Google Shape;28;p30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7491519" y="4786956"/>
              <a:ext cx="1656588" cy="301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17.xml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21.xml"/><Relationship Id="rId12" Type="http://schemas.openxmlformats.org/officeDocument/2006/relationships/tags" Target="../tags/tag20.xml"/><Relationship Id="rId11" Type="http://schemas.openxmlformats.org/officeDocument/2006/relationships/tags" Target="../tags/tag19.xml"/><Relationship Id="rId10" Type="http://schemas.openxmlformats.org/officeDocument/2006/relationships/tags" Target="../tags/tag18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tags" Target="../tags/tag43.xml"/><Relationship Id="rId1" Type="http://schemas.openxmlformats.org/officeDocument/2006/relationships/tags" Target="../tags/tag3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65.xml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4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en-US"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vLLM-Omni</a:t>
            </a: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语音模型支持与性能优化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058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B8C5D4"/>
                </a:solidFill>
                <a:latin typeface="微软雅黑" panose="020B0503020204020204" charset="-122"/>
                <a:ea typeface="微软雅黑" panose="020B0503020204020204" charset="-122"/>
              </a:rPr>
              <a:t>支持矩阵  →  通用优化栈  →  MiniCPM-o 专项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3931920"/>
            <a:ext cx="1280160" cy="365760"/>
          </a:xfrm>
          <a:prstGeom prst="roundRect">
            <a:avLst>
              <a:gd name="adj" fmla="val 50000"/>
            </a:avLst>
          </a:prstGeom>
          <a:solidFill>
            <a:srgbClr val="C9D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Omni</a:t>
            </a:r>
            <a:endParaRPr sz="120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32680" y="3931920"/>
            <a:ext cx="1844675" cy="365760"/>
          </a:xfrm>
          <a:prstGeom prst="roundRect">
            <a:avLst>
              <a:gd name="adj" fmla="val 50000"/>
            </a:avLst>
          </a:prstGeom>
          <a:solidFill>
            <a:srgbClr val="FFC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Realtime Duplex</a:t>
            </a:r>
            <a:endParaRPr sz="120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01" name="cover chip TTS 9101"/>
          <p:cNvSpPr/>
          <p:nvPr/>
        </p:nvSpPr>
        <p:spPr>
          <a:xfrm>
            <a:off x="2240280" y="3931920"/>
            <a:ext cx="2255240" cy="365760"/>
          </a:xfrm>
          <a:prstGeom prst="roundRect">
            <a:avLst>
              <a:gd name="adj" fmla="val 50000"/>
            </a:avLst>
          </a:prstGeom>
          <a:solidFill>
            <a:srgbClr val="E1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TTS · Generative Audio</a:t>
            </a:r>
            <a:endParaRPr sz="120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Rectangle 359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Box 360"/>
          <p:cNvSpPr txBox="1"/>
          <p:nvPr/>
        </p:nvSpPr>
        <p:spPr>
          <a:xfrm>
            <a:off x="411480" y="256032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开源仓库与安装</a:t>
            </a:r>
            <a:endParaRPr sz="26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2" name="TextBox 361"/>
          <p:cNvSpPr txBox="1"/>
          <p:nvPr/>
        </p:nvSpPr>
        <p:spPr>
          <a:xfrm>
            <a:off x="411480" y="713232"/>
            <a:ext cx="11155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vLLM-Omni · GitHub / PyPI · 一行安装即可复现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3" name="Rounded Rectangle 362"/>
          <p:cNvSpPr/>
          <p:nvPr/>
        </p:nvSpPr>
        <p:spPr>
          <a:xfrm>
            <a:off x="411480" y="1325880"/>
            <a:ext cx="5532120" cy="2331720"/>
          </a:xfrm>
          <a:prstGeom prst="roundRect">
            <a:avLst/>
          </a:prstGeom>
          <a:solidFill>
            <a:srgbClr val="F1F3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685800" y="15727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GitHub 仓库</a:t>
            </a:r>
            <a:endParaRPr sz="15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5" name="TextBox 364"/>
          <p:cNvSpPr txBox="1"/>
          <p:nvPr/>
        </p:nvSpPr>
        <p:spPr>
          <a:xfrm>
            <a:off x="685800" y="201168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0097A7"/>
                </a:solidFill>
                <a:latin typeface="微软雅黑" panose="020B0503020204020204" charset="-122"/>
                <a:ea typeface="微软雅黑" panose="020B0503020204020204" charset="-122"/>
              </a:rPr>
              <a:t>github.com/vllm-project/vllm-omni</a:t>
            </a:r>
            <a:endParaRPr sz="1400" b="1">
              <a:solidFill>
                <a:srgbClr val="0097A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6" name="Rounded Rectangle 365"/>
          <p:cNvSpPr/>
          <p:nvPr/>
        </p:nvSpPr>
        <p:spPr>
          <a:xfrm>
            <a:off x="685800" y="2606040"/>
            <a:ext cx="2103120" cy="502920"/>
          </a:xfrm>
          <a:prstGeom prst="roundRect">
            <a:avLst/>
          </a:prstGeom>
          <a:solidFill>
            <a:srgbClr val="FFF4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7" name="TextBox 366"/>
          <p:cNvSpPr txBox="1"/>
          <p:nvPr/>
        </p:nvSpPr>
        <p:spPr>
          <a:xfrm>
            <a:off x="685800" y="260604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★ 5700+ Stars</a:t>
            </a:r>
            <a:endParaRPr sz="13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" name="Rounded Rectangle 367"/>
          <p:cNvSpPr/>
          <p:nvPr/>
        </p:nvSpPr>
        <p:spPr>
          <a:xfrm>
            <a:off x="2926080" y="2606040"/>
            <a:ext cx="2103120" cy="502920"/>
          </a:xfrm>
          <a:prstGeom prst="roundRect">
            <a:avLst/>
          </a:prstGeom>
          <a:solidFill>
            <a:srgbClr val="D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9" name="TextBox 368"/>
          <p:cNvSpPr txBox="1"/>
          <p:nvPr/>
        </p:nvSpPr>
        <p:spPr>
          <a:xfrm>
            <a:off x="2926080" y="260604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⑂ 1300+ Forks</a:t>
            </a:r>
            <a:endParaRPr sz="13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TextBox 369"/>
          <p:cNvSpPr txBox="1"/>
          <p:nvPr/>
        </p:nvSpPr>
        <p:spPr>
          <a:xfrm>
            <a:off x="685800" y="321868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Apache-2.0 · 活跃社区 · Official release</a:t>
            </a:r>
            <a:endParaRPr sz="115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1" name="Rounded Rectangle 370"/>
          <p:cNvSpPr/>
          <p:nvPr/>
        </p:nvSpPr>
        <p:spPr>
          <a:xfrm>
            <a:off x="6172200" y="1325880"/>
            <a:ext cx="5577840" cy="2331720"/>
          </a:xfrm>
          <a:prstGeom prst="roundRect">
            <a:avLst/>
          </a:prstGeom>
          <a:solidFill>
            <a:srgbClr val="1D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6446520" y="157276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EF8600"/>
                </a:solidFill>
                <a:latin typeface="微软雅黑" panose="020B0503020204020204" charset="-122"/>
                <a:ea typeface="微软雅黑" panose="020B0503020204020204" charset="-122"/>
              </a:rPr>
              <a:t>快速安装</a:t>
            </a:r>
            <a:endParaRPr sz="1500" b="1">
              <a:solidFill>
                <a:srgbClr val="EF86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3" name="TextBox 372"/>
          <p:cNvSpPr txBox="1"/>
          <p:nvPr/>
        </p:nvSpPr>
        <p:spPr>
          <a:xfrm>
            <a:off x="6446520" y="2057400"/>
            <a:ext cx="5120640" cy="1280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$ uv pip install vllm==0.25.0 \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B8C5D4"/>
                </a:solidFill>
                <a:latin typeface="微软雅黑" panose="020B0503020204020204" charset="-122"/>
                <a:ea typeface="微软雅黑" panose="020B0503020204020204" charset="-122"/>
              </a:rPr>
              <a:t>        --torch-backend=auto</a:t>
            </a:r>
            <a:endParaRPr sz="13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$ uv pip install vllm-omni</a:t>
            </a:r>
            <a:endParaRPr sz="130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4" name="TextBox 373"/>
          <p:cNvSpPr txBox="1"/>
          <p:nvPr/>
        </p:nvSpPr>
        <p:spPr>
          <a:xfrm>
            <a:off x="6446520" y="3218688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>
                <a:solidFill>
                  <a:srgbClr val="B8C5D4"/>
                </a:solidFill>
                <a:latin typeface="微软雅黑" panose="020B0503020204020204" charset="-122"/>
                <a:ea typeface="微软雅黑" panose="020B0503020204020204" charset="-122"/>
              </a:rPr>
              <a:t>兼容 vLLM 0.25.0 · 一条命令拉起 Omni serving</a:t>
            </a:r>
            <a:endParaRPr sz="115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5" name="Rounded Rectangle 374"/>
          <p:cNvSpPr/>
          <p:nvPr/>
        </p:nvSpPr>
        <p:spPr>
          <a:xfrm>
            <a:off x="411480" y="3886200"/>
            <a:ext cx="6301740" cy="2221230"/>
          </a:xfrm>
          <a:prstGeom prst="roundRect">
            <a:avLst/>
          </a:prstGeom>
          <a:solidFill>
            <a:srgbClr val="F1F3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640080" y="4069080"/>
            <a:ext cx="10789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覆盖范围</a:t>
            </a:r>
            <a:endParaRPr sz="15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7" name="Rounded Rectangle 376"/>
          <p:cNvSpPr/>
          <p:nvPr/>
        </p:nvSpPr>
        <p:spPr>
          <a:xfrm>
            <a:off x="640080" y="4572000"/>
            <a:ext cx="1490472" cy="411480"/>
          </a:xfrm>
          <a:prstGeom prst="roundRect">
            <a:avLst/>
          </a:prstGeom>
          <a:solidFill>
            <a:srgbClr val="C9D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TextBox 377"/>
          <p:cNvSpPr txBox="1"/>
          <p:nvPr/>
        </p:nvSpPr>
        <p:spPr>
          <a:xfrm>
            <a:off x="640080" y="4572000"/>
            <a:ext cx="149047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Qwen3-Omni</a:t>
            </a:r>
            <a:endParaRPr sz="120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1" name="Rounded Rectangle 380"/>
          <p:cNvSpPr/>
          <p:nvPr/>
        </p:nvSpPr>
        <p:spPr>
          <a:xfrm>
            <a:off x="2270125" y="4572000"/>
            <a:ext cx="1860804" cy="411480"/>
          </a:xfrm>
          <a:prstGeom prst="roundRect">
            <a:avLst/>
          </a:prstGeom>
          <a:solidFill>
            <a:srgbClr val="FFD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TextBox 381"/>
          <p:cNvSpPr txBox="1"/>
          <p:nvPr/>
        </p:nvSpPr>
        <p:spPr>
          <a:xfrm>
            <a:off x="2270125" y="4572000"/>
            <a:ext cx="1860804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MiniCPM-o 4.5</a:t>
            </a:r>
            <a:endParaRPr sz="120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5" name="Rounded Rectangle 384"/>
          <p:cNvSpPr/>
          <p:nvPr/>
        </p:nvSpPr>
        <p:spPr>
          <a:xfrm>
            <a:off x="4314444" y="4572000"/>
            <a:ext cx="2107692" cy="411480"/>
          </a:xfrm>
          <a:prstGeom prst="roundRect">
            <a:avLst/>
          </a:prstGeom>
          <a:solidFill>
            <a:srgbClr val="FFC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TextBox 385"/>
          <p:cNvSpPr txBox="1"/>
          <p:nvPr/>
        </p:nvSpPr>
        <p:spPr>
          <a:xfrm>
            <a:off x="4314444" y="4572000"/>
            <a:ext cx="2107692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20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Realtime Duplex</a:t>
            </a:r>
            <a:endParaRPr sz="120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7" name="TextBox 386"/>
          <p:cNvSpPr txBox="1"/>
          <p:nvPr/>
        </p:nvSpPr>
        <p:spPr>
          <a:xfrm>
            <a:off x="640080" y="5349240"/>
            <a:ext cx="5456555" cy="384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统一多阶段架构 (Thinker → Talker → Code2Wav) · OpenAI 兼容 Serving · GPU / Ascend NPU 部署</a:t>
            </a:r>
            <a:endParaRPr sz="125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8" name="TextBox 387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vLLM-Omni · Speech Model Support &amp; Optimization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9" name="TextBox 388"/>
          <p:cNvSpPr txBox="1"/>
          <p:nvPr/>
        </p:nvSpPr>
        <p:spPr>
          <a:xfrm>
            <a:off x="10332720" y="651052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2 / 19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" name="图片 0"/>
          <p:cNvPicPr>
            <a:picLocks noChangeAspect="1"/>
          </p:cNvPicPr>
          <p:nvPr/>
        </p:nvPicPr>
        <p:blipFill>
          <a:blip r:embed="rId1"/>
          <a:srcRect l="16174" t="31309" r="13413" b="13914"/>
          <a:stretch>
            <a:fillRect/>
          </a:stretch>
        </p:blipFill>
        <p:spPr>
          <a:xfrm>
            <a:off x="7964170" y="3950335"/>
            <a:ext cx="2230120" cy="2067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26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Agenda · 三大板块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10881360" cy="1234440"/>
          </a:xfrm>
          <a:prstGeom prst="roundRect">
            <a:avLst>
              <a:gd name="adj" fmla="val 15000"/>
            </a:avLst>
          </a:prstGeom>
          <a:solidFill>
            <a:srgbClr val="C9D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960120" y="1536192"/>
            <a:ext cx="1371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36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2651760" y="1536192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语音模型支持</a:t>
            </a:r>
            <a:endParaRPr sz="220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3"/>
            </p:custDataLst>
          </p:nvPr>
        </p:nvSpPr>
        <p:spPr>
          <a:xfrm>
            <a:off x="2651760" y="1965960"/>
            <a:ext cx="8229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模型矩阵</a:t>
            </a:r>
            <a:endParaRPr sz="130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10881360" cy="1234440"/>
          </a:xfrm>
          <a:prstGeom prst="roundRect">
            <a:avLst>
              <a:gd name="adj" fmla="val 15000"/>
            </a:avLst>
          </a:prstGeom>
          <a:solidFill>
            <a:srgbClr val="E1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960120" y="2999232"/>
            <a:ext cx="1371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36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5"/>
            </p:custDataLst>
          </p:nvPr>
        </p:nvSpPr>
        <p:spPr>
          <a:xfrm>
            <a:off x="2651760" y="2999232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语音模型优化</a:t>
            </a:r>
            <a:endParaRPr sz="220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6"/>
            </p:custDataLst>
          </p:nvPr>
        </p:nvSpPr>
        <p:spPr>
          <a:xfrm>
            <a:off x="2651760" y="3429000"/>
            <a:ext cx="8229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Batch / Graph / Async · 特化优化 · 收益</a:t>
            </a:r>
            <a:endParaRPr sz="130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40080" y="4206240"/>
            <a:ext cx="10881360" cy="1234440"/>
          </a:xfrm>
          <a:prstGeom prst="roundRect">
            <a:avLst>
              <a:gd name="adj" fmla="val 15000"/>
            </a:avLst>
          </a:prstGeom>
          <a:solidFill>
            <a:srgbClr val="FFD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960120" y="4462272"/>
            <a:ext cx="1371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36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2651760" y="4462272"/>
            <a:ext cx="8229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MiniCPM 支持与优化</a:t>
            </a:r>
            <a:endParaRPr sz="220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2651760" y="4892040"/>
            <a:ext cx="8229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接入管线 · Full-Duplex · 加速路线图</a:t>
            </a:r>
            <a:endParaRPr sz="130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vLLM-Omni · Speech Model Support &amp; Optimization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332720" y="6510528"/>
            <a:ext cx="14630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3 / 19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312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EF8600"/>
                </a:solidFill>
                <a:latin typeface="微软雅黑" panose="020B0503020204020204" charset="-122"/>
                <a:ea typeface="微软雅黑" panose="020B0503020204020204" charset="-122"/>
              </a:rPr>
              <a:t>PART 01</a:t>
            </a:r>
            <a:endParaRPr sz="1800" b="1">
              <a:solidFill>
                <a:srgbClr val="EF86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5176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语音模型支持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2"/>
          <p:cNvSpPr/>
          <p:nvPr/>
        </p:nvSpPr>
        <p:spPr>
          <a:xfrm>
            <a:off x="822960" y="2950000"/>
            <a:ext cx="1005840" cy="4572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5"/>
          <p:cNvSpPr txBox="1"/>
          <p:nvPr/>
        </p:nvSpPr>
        <p:spPr>
          <a:xfrm>
            <a:off x="822960" y="37062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8C5D4"/>
                </a:solidFill>
                <a:latin typeface="微软雅黑" panose="020B0503020204020204" charset="-122"/>
                <a:ea typeface="微软雅黑" panose="020B0503020204020204" charset="-122"/>
              </a:rPr>
              <a:t>本节内容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2"/>
          <p:cNvSpPr/>
          <p:nvPr/>
        </p:nvSpPr>
        <p:spPr>
          <a:xfrm>
            <a:off x="845820" y="4236592"/>
            <a:ext cx="118872" cy="118872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5"/>
          <p:cNvSpPr txBox="1"/>
          <p:nvPr/>
        </p:nvSpPr>
        <p:spPr>
          <a:xfrm>
            <a:off x="1060704" y="4117720"/>
            <a:ext cx="980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4EAF2"/>
                </a:solidFill>
                <a:latin typeface="微软雅黑" panose="020B0503020204020204" charset="-122"/>
                <a:ea typeface="微软雅黑" panose="020B0503020204020204" charset="-122"/>
              </a:rPr>
              <a:t>Omni 理解+生成：Qwen3-Omni · MiniCPM-o 4.5 · MiMo-Audio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2"/>
          <p:cNvSpPr/>
          <p:nvPr/>
        </p:nvSpPr>
        <p:spPr>
          <a:xfrm>
            <a:off x="9988735" y="5397880"/>
            <a:ext cx="380000" cy="30000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5"/>
          <p:cNvSpPr txBox="1"/>
          <p:nvPr/>
        </p:nvSpPr>
        <p:spPr>
          <a:xfrm>
            <a:off x="9988735" y="5428360"/>
            <a:ext cx="38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2"/>
          <p:cNvSpPr/>
          <p:nvPr/>
        </p:nvSpPr>
        <p:spPr>
          <a:xfrm>
            <a:off x="10488735" y="5397880"/>
            <a:ext cx="380000" cy="300000"/>
          </a:xfrm>
          <a:prstGeom prst="rect">
            <a:avLst/>
          </a:prstGeom>
          <a:solidFill>
            <a:srgbClr val="2C4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5"/>
          <p:cNvSpPr txBox="1"/>
          <p:nvPr/>
        </p:nvSpPr>
        <p:spPr>
          <a:xfrm>
            <a:off x="10488735" y="5428360"/>
            <a:ext cx="38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8A9AB4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2"/>
          <p:cNvSpPr/>
          <p:nvPr/>
        </p:nvSpPr>
        <p:spPr>
          <a:xfrm>
            <a:off x="10988735" y="5397880"/>
            <a:ext cx="380000" cy="300000"/>
          </a:xfrm>
          <a:prstGeom prst="rect">
            <a:avLst/>
          </a:prstGeom>
          <a:solidFill>
            <a:srgbClr val="2C4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5"/>
          <p:cNvSpPr txBox="1"/>
          <p:nvPr/>
        </p:nvSpPr>
        <p:spPr>
          <a:xfrm>
            <a:off x="10988735" y="5428360"/>
            <a:ext cx="38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8A9AB4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1" name="divider subtitle 9001"/>
          <p:cNvSpPr txBox="1"/>
          <p:nvPr/>
        </p:nvSpPr>
        <p:spPr>
          <a:xfrm>
            <a:off x="822960" y="306616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B8C5D4"/>
                </a:solidFill>
                <a:latin typeface="微软雅黑" panose="020B0503020204020204" charset="-122"/>
                <a:ea typeface="微软雅黑" panose="020B0503020204020204" charset="-122"/>
              </a:rPr>
              <a:t>支持哪些语音相关模型 · 如何分类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2" name="bullet 9002"/>
          <p:cNvSpPr/>
          <p:nvPr/>
        </p:nvSpPr>
        <p:spPr>
          <a:xfrm>
            <a:off x="845820" y="4656592"/>
            <a:ext cx="118872" cy="118872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3" name="preview item 9003"/>
          <p:cNvSpPr txBox="1"/>
          <p:nvPr/>
        </p:nvSpPr>
        <p:spPr>
          <a:xfrm>
            <a:off x="1060704" y="4537720"/>
            <a:ext cx="980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4EAF2"/>
                </a:solidFill>
                <a:latin typeface="微软雅黑" panose="020B0503020204020204" charset="-122"/>
                <a:ea typeface="微软雅黑" panose="020B0503020204020204" charset="-122"/>
              </a:rPr>
              <a:t>TTS 语音合成：Qwen3-TTS · CosyVoice3 · GLM-TTS · MOSS 系列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4" name="bullet 9004"/>
          <p:cNvSpPr/>
          <p:nvPr/>
        </p:nvSpPr>
        <p:spPr>
          <a:xfrm>
            <a:off x="845820" y="5076592"/>
            <a:ext cx="118872" cy="118872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5" name="preview item 9005"/>
          <p:cNvSpPr txBox="1"/>
          <p:nvPr/>
        </p:nvSpPr>
        <p:spPr>
          <a:xfrm>
            <a:off x="1060704" y="4957720"/>
            <a:ext cx="980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4EAF2"/>
                </a:solidFill>
                <a:latin typeface="微软雅黑" panose="020B0503020204020204" charset="-122"/>
                <a:ea typeface="微软雅黑" panose="020B0503020204020204" charset="-122"/>
              </a:rPr>
              <a:t>Generative Audio：Stable-Audio-Open · AudioX · SoulX-Singer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语音相关模型支持矩阵</a:t>
            </a:r>
            <a:endParaRPr sz="26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Omni 理解+生成  ·  TTS 语音合成  ·  Generative Audio 音频生成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vLLM-Omni · Speech Model Support &amp; Optimization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332720" y="651052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5 / 19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1480" y="1188720"/>
            <a:ext cx="3668000" cy="4937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188720"/>
            <a:ext cx="3668000" cy="640080"/>
          </a:xfrm>
          <a:prstGeom prst="roundRect">
            <a:avLst>
              <a:gd name="adj" fmla="val 15000"/>
            </a:avLst>
          </a:prstGeom>
          <a:solidFill>
            <a:srgbClr val="C9D9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98448"/>
            <a:ext cx="3302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Omni 理解 + 生成</a:t>
            </a:r>
            <a:endParaRPr sz="150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3302240" cy="502920"/>
          </a:xfrm>
          <a:prstGeom prst="roundRect">
            <a:avLst>
              <a:gd name="adj" fmla="val 15000"/>
            </a:avLst>
          </a:prstGeom>
          <a:solidFill>
            <a:srgbClr val="F1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302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Qwen3-Omni / Qwen2.5-Omni</a:t>
            </a:r>
            <a:endParaRPr sz="120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7"/>
          <p:cNvSpPr/>
          <p:nvPr/>
        </p:nvSpPr>
        <p:spPr>
          <a:xfrm>
            <a:off x="594360" y="2697480"/>
            <a:ext cx="3302240" cy="502920"/>
          </a:xfrm>
          <a:prstGeom prst="roundRect">
            <a:avLst>
              <a:gd name="adj" fmla="val 15000"/>
            </a:avLst>
          </a:prstGeom>
          <a:solidFill>
            <a:srgbClr val="F1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8"/>
          <p:cNvSpPr txBox="1"/>
          <p:nvPr/>
        </p:nvSpPr>
        <p:spPr>
          <a:xfrm>
            <a:off x="731520" y="2788920"/>
            <a:ext cx="302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MiniCPM-o 4.5</a:t>
            </a:r>
            <a:endParaRPr sz="120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7"/>
          <p:cNvSpPr/>
          <p:nvPr/>
        </p:nvSpPr>
        <p:spPr>
          <a:xfrm>
            <a:off x="594360" y="3337560"/>
            <a:ext cx="3302240" cy="502920"/>
          </a:xfrm>
          <a:prstGeom prst="roundRect">
            <a:avLst>
              <a:gd name="adj" fmla="val 15000"/>
            </a:avLst>
          </a:prstGeom>
          <a:solidFill>
            <a:srgbClr val="F1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8"/>
          <p:cNvSpPr txBox="1"/>
          <p:nvPr/>
        </p:nvSpPr>
        <p:spPr>
          <a:xfrm>
            <a:off x="731520" y="3429000"/>
            <a:ext cx="302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Ming-flash-omni-2.0</a:t>
            </a:r>
            <a:endParaRPr sz="120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7"/>
          <p:cNvSpPr/>
          <p:nvPr/>
        </p:nvSpPr>
        <p:spPr>
          <a:xfrm>
            <a:off x="594360" y="3977640"/>
            <a:ext cx="3302240" cy="502920"/>
          </a:xfrm>
          <a:prstGeom prst="roundRect">
            <a:avLst>
              <a:gd name="adj" fmla="val 15000"/>
            </a:avLst>
          </a:prstGeom>
          <a:solidFill>
            <a:srgbClr val="F1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8"/>
          <p:cNvSpPr txBox="1"/>
          <p:nvPr/>
        </p:nvSpPr>
        <p:spPr>
          <a:xfrm>
            <a:off x="731520" y="4069080"/>
            <a:ext cx="302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Dynin-Omni / Covo-Audio-Chat</a:t>
            </a:r>
            <a:endParaRPr sz="120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7"/>
          <p:cNvSpPr/>
          <p:nvPr/>
        </p:nvSpPr>
        <p:spPr>
          <a:xfrm>
            <a:off x="594360" y="4617720"/>
            <a:ext cx="3302240" cy="502920"/>
          </a:xfrm>
          <a:prstGeom prst="roundRect">
            <a:avLst>
              <a:gd name="adj" fmla="val 15000"/>
            </a:avLst>
          </a:prstGeom>
          <a:solidFill>
            <a:srgbClr val="F1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8"/>
          <p:cNvSpPr txBox="1"/>
          <p:nvPr/>
        </p:nvSpPr>
        <p:spPr>
          <a:xfrm>
            <a:off x="731520" y="4709160"/>
            <a:ext cx="302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MiMo-Audio-7B-Instruct</a:t>
            </a:r>
            <a:endParaRPr sz="120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8"/>
          <p:cNvSpPr txBox="1"/>
          <p:nvPr/>
        </p:nvSpPr>
        <p:spPr>
          <a:xfrm>
            <a:off x="731520" y="5349240"/>
            <a:ext cx="3027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统一走 Thinker → Talker → Code2Wav 多阶段。</a:t>
            </a:r>
            <a:endParaRPr sz="120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音频理解另有 MiMo-V2.5-ASR。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4"/>
          <p:cNvSpPr/>
          <p:nvPr/>
        </p:nvSpPr>
        <p:spPr>
          <a:xfrm>
            <a:off x="4269480" y="1188720"/>
            <a:ext cx="3668000" cy="4937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5"/>
          <p:cNvSpPr/>
          <p:nvPr/>
        </p:nvSpPr>
        <p:spPr>
          <a:xfrm>
            <a:off x="4269480" y="1188720"/>
            <a:ext cx="3668000" cy="640080"/>
          </a:xfrm>
          <a:prstGeom prst="roundRect">
            <a:avLst>
              <a:gd name="adj" fmla="val 15000"/>
            </a:avLst>
          </a:prstGeom>
          <a:solidFill>
            <a:srgbClr val="E1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6"/>
          <p:cNvSpPr txBox="1"/>
          <p:nvPr/>
        </p:nvSpPr>
        <p:spPr>
          <a:xfrm>
            <a:off x="4452360" y="1298448"/>
            <a:ext cx="3302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TTS / 语音合成</a:t>
            </a:r>
            <a:endParaRPr sz="150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7"/>
          <p:cNvSpPr/>
          <p:nvPr/>
        </p:nvSpPr>
        <p:spPr>
          <a:xfrm>
            <a:off x="4452360" y="2057400"/>
            <a:ext cx="3302240" cy="502920"/>
          </a:xfrm>
          <a:prstGeom prst="roundRect">
            <a:avLst>
              <a:gd name="adj" fmla="val 15000"/>
            </a:avLst>
          </a:prstGeom>
          <a:solidFill>
            <a:srgbClr val="F1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8"/>
          <p:cNvSpPr txBox="1"/>
          <p:nvPr/>
        </p:nvSpPr>
        <p:spPr>
          <a:xfrm>
            <a:off x="4589520" y="2148840"/>
            <a:ext cx="302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Qwen3-TTS（CustomVoice / Design）</a:t>
            </a:r>
            <a:endParaRPr sz="120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Rounded Rectangle 7"/>
          <p:cNvSpPr/>
          <p:nvPr/>
        </p:nvSpPr>
        <p:spPr>
          <a:xfrm>
            <a:off x="4452360" y="2697480"/>
            <a:ext cx="3302240" cy="502920"/>
          </a:xfrm>
          <a:prstGeom prst="roundRect">
            <a:avLst>
              <a:gd name="adj" fmla="val 15000"/>
            </a:avLst>
          </a:prstGeom>
          <a:solidFill>
            <a:srgbClr val="F1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8"/>
          <p:cNvSpPr txBox="1"/>
          <p:nvPr/>
        </p:nvSpPr>
        <p:spPr>
          <a:xfrm>
            <a:off x="4589520" y="2788920"/>
            <a:ext cx="302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CosyVoice3 / VoxCPM2 / OmniVoice</a:t>
            </a:r>
            <a:endParaRPr sz="120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ounded Rectangle 7"/>
          <p:cNvSpPr/>
          <p:nvPr/>
        </p:nvSpPr>
        <p:spPr>
          <a:xfrm>
            <a:off x="4452360" y="3337560"/>
            <a:ext cx="3302240" cy="502920"/>
          </a:xfrm>
          <a:prstGeom prst="roundRect">
            <a:avLst>
              <a:gd name="adj" fmla="val 15000"/>
            </a:avLst>
          </a:prstGeom>
          <a:solidFill>
            <a:srgbClr val="F1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8"/>
          <p:cNvSpPr txBox="1"/>
          <p:nvPr/>
        </p:nvSpPr>
        <p:spPr>
          <a:xfrm>
            <a:off x="4589520" y="3429000"/>
            <a:ext cx="302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GLM-TTS / IndexTTS-2 / Ming-omni-tts</a:t>
            </a:r>
            <a:endParaRPr sz="120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7"/>
          <p:cNvSpPr/>
          <p:nvPr/>
        </p:nvSpPr>
        <p:spPr>
          <a:xfrm>
            <a:off x="4452360" y="3977640"/>
            <a:ext cx="3302240" cy="502920"/>
          </a:xfrm>
          <a:prstGeom prst="roundRect">
            <a:avLst>
              <a:gd name="adj" fmla="val 15000"/>
            </a:avLst>
          </a:prstGeom>
          <a:solidFill>
            <a:srgbClr val="F1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8"/>
          <p:cNvSpPr txBox="1"/>
          <p:nvPr/>
        </p:nvSpPr>
        <p:spPr>
          <a:xfrm>
            <a:off x="4589520" y="4069080"/>
            <a:ext cx="302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Fish Speech S2 Pro / Voxtral TTS</a:t>
            </a:r>
            <a:endParaRPr sz="120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7"/>
          <p:cNvSpPr/>
          <p:nvPr/>
        </p:nvSpPr>
        <p:spPr>
          <a:xfrm>
            <a:off x="4452360" y="4617720"/>
            <a:ext cx="3302240" cy="502920"/>
          </a:xfrm>
          <a:prstGeom prst="roundRect">
            <a:avLst>
              <a:gd name="adj" fmla="val 15000"/>
            </a:avLst>
          </a:prstGeom>
          <a:solidFill>
            <a:srgbClr val="F1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8"/>
          <p:cNvSpPr txBox="1"/>
          <p:nvPr/>
        </p:nvSpPr>
        <p:spPr>
          <a:xfrm>
            <a:off x="4589520" y="4709160"/>
            <a:ext cx="302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Higgs-Audio v2·v3 / MOSS-TTS 系列</a:t>
            </a:r>
            <a:endParaRPr sz="120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TextBox 8"/>
          <p:cNvSpPr txBox="1"/>
          <p:nvPr/>
        </p:nvSpPr>
        <p:spPr>
          <a:xfrm>
            <a:off x="4589520" y="5349240"/>
            <a:ext cx="30279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MOSS 家族另含 TTSD / Realtime /</a:t>
            </a:r>
            <a:endParaRPr sz="120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VoiceGenerator 等变体。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4"/>
          <p:cNvSpPr/>
          <p:nvPr/>
        </p:nvSpPr>
        <p:spPr>
          <a:xfrm>
            <a:off x="8127480" y="1188720"/>
            <a:ext cx="3668000" cy="4937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5"/>
          <p:cNvSpPr/>
          <p:nvPr/>
        </p:nvSpPr>
        <p:spPr>
          <a:xfrm>
            <a:off x="8127480" y="1188720"/>
            <a:ext cx="3668000" cy="640080"/>
          </a:xfrm>
          <a:prstGeom prst="roundRect">
            <a:avLst>
              <a:gd name="adj" fmla="val 15000"/>
            </a:avLst>
          </a:prstGeom>
          <a:solidFill>
            <a:srgbClr val="FFD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6"/>
          <p:cNvSpPr txBox="1"/>
          <p:nvPr/>
        </p:nvSpPr>
        <p:spPr>
          <a:xfrm>
            <a:off x="8310360" y="1298448"/>
            <a:ext cx="3302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Generative Audio / 音频生成</a:t>
            </a:r>
            <a:endParaRPr sz="150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Rounded Rectangle 7"/>
          <p:cNvSpPr/>
          <p:nvPr/>
        </p:nvSpPr>
        <p:spPr>
          <a:xfrm>
            <a:off x="8310360" y="2057400"/>
            <a:ext cx="3302240" cy="502920"/>
          </a:xfrm>
          <a:prstGeom prst="roundRect">
            <a:avLst>
              <a:gd name="adj" fmla="val 15000"/>
            </a:avLst>
          </a:prstGeom>
          <a:solidFill>
            <a:srgbClr val="F1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8"/>
          <p:cNvSpPr txBox="1"/>
          <p:nvPr/>
        </p:nvSpPr>
        <p:spPr>
          <a:xfrm>
            <a:off x="8447520" y="2148840"/>
            <a:ext cx="302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Stable-Audio-Open（文本→音频）</a:t>
            </a:r>
            <a:endParaRPr sz="120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Rounded Rectangle 7"/>
          <p:cNvSpPr/>
          <p:nvPr/>
        </p:nvSpPr>
        <p:spPr>
          <a:xfrm>
            <a:off x="8310360" y="2697480"/>
            <a:ext cx="3302240" cy="502920"/>
          </a:xfrm>
          <a:prstGeom prst="roundRect">
            <a:avLst>
              <a:gd name="adj" fmla="val 15000"/>
            </a:avLst>
          </a:prstGeom>
          <a:solidFill>
            <a:srgbClr val="F1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8"/>
          <p:cNvSpPr txBox="1"/>
          <p:nvPr/>
        </p:nvSpPr>
        <p:spPr>
          <a:xfrm>
            <a:off x="8447520" y="2788920"/>
            <a:ext cx="302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AudioX（文本 / 视频→音频·音乐）</a:t>
            </a:r>
            <a:endParaRPr sz="120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Rounded Rectangle 7"/>
          <p:cNvSpPr/>
          <p:nvPr/>
        </p:nvSpPr>
        <p:spPr>
          <a:xfrm>
            <a:off x="8310360" y="3337560"/>
            <a:ext cx="3302240" cy="502920"/>
          </a:xfrm>
          <a:prstGeom prst="roundRect">
            <a:avLst>
              <a:gd name="adj" fmla="val 15000"/>
            </a:avLst>
          </a:prstGeom>
          <a:solidFill>
            <a:srgbClr val="F1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8"/>
          <p:cNvSpPr txBox="1"/>
          <p:nvPr/>
        </p:nvSpPr>
        <p:spPr>
          <a:xfrm>
            <a:off x="8447520" y="3429000"/>
            <a:ext cx="302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SoulX-Singer · SVC（歌声合成）</a:t>
            </a:r>
            <a:endParaRPr sz="120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7"/>
          <p:cNvSpPr/>
          <p:nvPr/>
        </p:nvSpPr>
        <p:spPr>
          <a:xfrm>
            <a:off x="8310360" y="3977640"/>
            <a:ext cx="3302240" cy="502920"/>
          </a:xfrm>
          <a:prstGeom prst="roundRect">
            <a:avLst>
              <a:gd name="adj" fmla="val 15000"/>
            </a:avLst>
          </a:prstGeom>
          <a:solidFill>
            <a:srgbClr val="F1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8"/>
          <p:cNvSpPr txBox="1"/>
          <p:nvPr/>
        </p:nvSpPr>
        <p:spPr>
          <a:xfrm>
            <a:off x="8447520" y="4069080"/>
            <a:ext cx="30279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5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MOSS-SoundEffect（音效）</a:t>
            </a:r>
            <a:endParaRPr sz="120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8"/>
          <p:cNvSpPr txBox="1"/>
          <p:nvPr/>
        </p:nvSpPr>
        <p:spPr>
          <a:xfrm>
            <a:off x="8447520" y="4709160"/>
            <a:ext cx="302792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非语音音频：音乐 / 音效 / 歌声。</a:t>
            </a:r>
            <a:endParaRPr sz="120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多为 Diffusion 或 delay-pattern 路径，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</a:rPr>
              <a:t>与 TTS 共用音频输出栈。</a:t>
            </a:r>
            <a:endParaRPr sz="1000" b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312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EF8600"/>
                </a:solidFill>
                <a:latin typeface="微软雅黑" panose="020B0503020204020204" charset="-122"/>
                <a:ea typeface="微软雅黑" panose="020B0503020204020204" charset="-122"/>
              </a:rPr>
              <a:t>PART 02</a:t>
            </a:r>
            <a:endParaRPr sz="1800" b="1">
              <a:solidFill>
                <a:srgbClr val="EF86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5176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语音模型优化</a:t>
            </a:r>
            <a:r>
              <a:rPr lang="zh-CN"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路径（</a:t>
            </a:r>
            <a:r>
              <a:rPr lang="en-US" altLang="zh-CN"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Qwen3-Omni</a:t>
            </a:r>
            <a:r>
              <a:rPr lang="zh-CN" altLang="en-US"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为</a:t>
            </a:r>
            <a:r>
              <a:rPr lang="zh-CN" altLang="en-US"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例）</a:t>
            </a:r>
            <a:endParaRPr lang="zh-CN" altLang="en-US"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06616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B8C5D4"/>
                </a:solidFill>
                <a:latin typeface="微软雅黑" panose="020B0503020204020204" charset="-122"/>
                <a:ea typeface="微软雅黑" panose="020B0503020204020204" charset="-122"/>
              </a:rPr>
              <a:t>Batch → Graph → Async → Replicas → Hot-path 层层解锁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2"/>
          <p:cNvSpPr/>
          <p:nvPr/>
        </p:nvSpPr>
        <p:spPr>
          <a:xfrm>
            <a:off x="822960" y="2950000"/>
            <a:ext cx="1005840" cy="4572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5"/>
          <p:cNvSpPr txBox="1"/>
          <p:nvPr/>
        </p:nvSpPr>
        <p:spPr>
          <a:xfrm>
            <a:off x="822960" y="37062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8C5D4"/>
                </a:solidFill>
                <a:latin typeface="微软雅黑" panose="020B0503020204020204" charset="-122"/>
                <a:ea typeface="微软雅黑" panose="020B0503020204020204" charset="-122"/>
              </a:rPr>
              <a:t>本节内容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2"/>
          <p:cNvSpPr/>
          <p:nvPr/>
        </p:nvSpPr>
        <p:spPr>
          <a:xfrm>
            <a:off x="845820" y="4236592"/>
            <a:ext cx="118872" cy="118872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5"/>
          <p:cNvSpPr txBox="1"/>
          <p:nvPr/>
        </p:nvSpPr>
        <p:spPr>
          <a:xfrm>
            <a:off x="1060704" y="4117720"/>
            <a:ext cx="980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4EAF2"/>
                </a:solidFill>
                <a:latin typeface="微软雅黑" panose="020B0503020204020204" charset="-122"/>
                <a:ea typeface="微软雅黑" panose="020B0503020204020204" charset="-122"/>
              </a:rPr>
              <a:t>优化栈总览：不存在万能配方，每层针对一个瓶颈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845820" y="4656592"/>
            <a:ext cx="118872" cy="118872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5"/>
          <p:cNvSpPr txBox="1"/>
          <p:nvPr/>
        </p:nvSpPr>
        <p:spPr>
          <a:xfrm>
            <a:off x="1060704" y="4537720"/>
            <a:ext cx="980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4EAF2"/>
                </a:solidFill>
                <a:latin typeface="微软雅黑" panose="020B0503020204020204" charset="-122"/>
                <a:ea typeface="微软雅黑" panose="020B0503020204020204" charset="-122"/>
              </a:rPr>
              <a:t>三阶段分离 · CUDA Graph · Async Chunk · Async Output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2"/>
          <p:cNvSpPr/>
          <p:nvPr/>
        </p:nvSpPr>
        <p:spPr>
          <a:xfrm>
            <a:off x="845820" y="5076592"/>
            <a:ext cx="118872" cy="118872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5"/>
          <p:cNvSpPr txBox="1"/>
          <p:nvPr/>
        </p:nvSpPr>
        <p:spPr>
          <a:xfrm>
            <a:off x="1060704" y="4957720"/>
            <a:ext cx="980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4EAF2"/>
                </a:solidFill>
                <a:latin typeface="微软雅黑" panose="020B0503020204020204" charset="-122"/>
                <a:ea typeface="微软雅黑" panose="020B0503020204020204" charset="-122"/>
              </a:rPr>
              <a:t>Hot-Path Cleanup · 收益汇总：吞吐 ~5.4× · TTFP −89%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2"/>
          <p:cNvSpPr/>
          <p:nvPr/>
        </p:nvSpPr>
        <p:spPr>
          <a:xfrm>
            <a:off x="9988735" y="5397880"/>
            <a:ext cx="380000" cy="300000"/>
          </a:xfrm>
          <a:prstGeom prst="rect">
            <a:avLst/>
          </a:prstGeom>
          <a:solidFill>
            <a:srgbClr val="2C4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5"/>
          <p:cNvSpPr txBox="1"/>
          <p:nvPr/>
        </p:nvSpPr>
        <p:spPr>
          <a:xfrm>
            <a:off x="9988735" y="5428360"/>
            <a:ext cx="38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8A9AB4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2"/>
          <p:cNvSpPr/>
          <p:nvPr/>
        </p:nvSpPr>
        <p:spPr>
          <a:xfrm>
            <a:off x="10488735" y="5397880"/>
            <a:ext cx="380000" cy="30000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5"/>
          <p:cNvSpPr txBox="1"/>
          <p:nvPr/>
        </p:nvSpPr>
        <p:spPr>
          <a:xfrm>
            <a:off x="10488735" y="5428360"/>
            <a:ext cx="38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2"/>
          <p:cNvSpPr/>
          <p:nvPr/>
        </p:nvSpPr>
        <p:spPr>
          <a:xfrm>
            <a:off x="10988735" y="5397880"/>
            <a:ext cx="380000" cy="300000"/>
          </a:xfrm>
          <a:prstGeom prst="rect">
            <a:avLst/>
          </a:prstGeom>
          <a:solidFill>
            <a:srgbClr val="2C4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5"/>
          <p:cNvSpPr txBox="1"/>
          <p:nvPr/>
        </p:nvSpPr>
        <p:spPr>
          <a:xfrm>
            <a:off x="10988735" y="5428360"/>
            <a:ext cx="38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8A9AB4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语音优化栈总览</a:t>
            </a:r>
            <a:endParaRPr sz="26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不套万能配方：每层针对一个阶段/交接瓶颈  ·  Why → Why it works → What you gain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234440"/>
          <a:ext cx="11430000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743200"/>
                <a:gridCol w="4114800"/>
                <a:gridCol w="1920240"/>
              </a:tblGrid>
              <a:tr h="577215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优化层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D2F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目标阶段 / 路径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D2F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解决的问题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D2F5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主要收益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D2F50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 Decomposition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Thinker→Talker→Code2Wav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三阶段算力画像不同却共用一套策略，最慢子路径拖垮全局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每阶段独立运行策略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AR + Code2Wav Batching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Talker MTP · Code2Wav chunk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单请求微算力使 SM 空转，占用与 req/s 受限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提升占用率与 req/s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Graph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三阶段 Decode 路径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每步 CPU 侧 kernel dispatch 抬高 TPOT，RTF 高于实时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降 TPOT / RTF，扫表 ~4× 吞吐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Async Chunk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Thinker→Talker→Code2Wav 交接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全 payload 屏障使 Code2Wav 等满 Talker，首包音频被拖高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流水线交接，TTFP 降幅最大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Async Omni Output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Thinker connector payload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同步拼 payload 阻塞 decode worker，浪费 GPU 时间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吞吐回升且不伤 TTFP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Stage Replicas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Talker · Code2Wav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语音阶段先饱和成尾瓶颈，Thinker 仍有余量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1F3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只对瓶颈阶段水平扩展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1F3F7"/>
                    </a:solidFill>
                  </a:tcPr>
                </a:tc>
              </a:tr>
              <a:tr h="577215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Hot-Path Cleanup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Talker code predictor · payload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长语句下逐步 Python/分配/同步开销累积，抬高 E2EL/TTFP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2328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降单步延迟，叠加以上各层</a:t>
                      </a:r>
                      <a:endParaRPr sz="1100" b="0">
                        <a:solidFill>
                          <a:srgbClr val="1F2328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vLLM-Omni · Speech Model Support &amp; Optimization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7 / 19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altLang="en-US" sz="26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三阶段</a:t>
            </a:r>
            <a:r>
              <a:rPr lang="zh-CN" altLang="en-US" sz="26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分离</a:t>
            </a:r>
            <a:endParaRPr lang="zh-CN" altLang="en-US" sz="26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Thinker / Talker / Code2Wav 各自独立进程与调度，阶段间经 OmniConnector 传递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390" y="1498600"/>
            <a:ext cx="10730230" cy="357695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vLLM-Omni · Speech Model Support &amp; Optimization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0332720" y="651052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8 / 19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>
            <p:custDataLst>
              <p:tags r:id="rId2"/>
            </p:custDataLst>
          </p:nvPr>
        </p:nvSpPr>
        <p:spPr>
          <a:xfrm>
            <a:off x="411480" y="5138928"/>
            <a:ext cx="3688080" cy="960120"/>
          </a:xfrm>
          <a:prstGeom prst="roundRect">
            <a:avLst/>
          </a:prstGeom>
          <a:solidFill>
            <a:srgbClr val="F1F3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>
            <p:custDataLst>
              <p:tags r:id="rId3"/>
            </p:custDataLst>
          </p:nvPr>
        </p:nvSpPr>
        <p:spPr>
          <a:xfrm>
            <a:off x="411480" y="5138928"/>
            <a:ext cx="3688080" cy="310896"/>
          </a:xfrm>
          <a:prstGeom prst="roundRect">
            <a:avLst/>
          </a:prstGeom>
          <a:solidFill>
            <a:srgbClr val="FFC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>
            <p:custDataLst>
              <p:tags r:id="rId4"/>
            </p:custDataLst>
          </p:nvPr>
        </p:nvSpPr>
        <p:spPr>
          <a:xfrm>
            <a:off x="548640" y="5138928"/>
            <a:ext cx="3413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Why · 问题</a:t>
            </a:r>
            <a:endParaRPr sz="105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>
            <p:custDataLst>
              <p:tags r:id="rId5"/>
            </p:custDataLst>
          </p:nvPr>
        </p:nvSpPr>
        <p:spPr>
          <a:xfrm>
            <a:off x="548640" y="5522976"/>
            <a:ext cx="3413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三阶段计算画像差异大（Thinker 多模态 AR、Talker 码本预测、Code2Wav 并行声码），共用一套 batching/graph/device 策略，最慢子路径拖垮全局。</a:t>
            </a:r>
            <a:endParaRPr sz="95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>
            <p:custDataLst>
              <p:tags r:id="rId6"/>
            </p:custDataLst>
          </p:nvPr>
        </p:nvSpPr>
        <p:spPr>
          <a:xfrm>
            <a:off x="4236720" y="5138928"/>
            <a:ext cx="3688080" cy="960120"/>
          </a:xfrm>
          <a:prstGeom prst="roundRect">
            <a:avLst/>
          </a:prstGeom>
          <a:solidFill>
            <a:srgbClr val="F1F3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>
            <p:custDataLst>
              <p:tags r:id="rId7"/>
            </p:custDataLst>
          </p:nvPr>
        </p:nvSpPr>
        <p:spPr>
          <a:xfrm>
            <a:off x="4236720" y="5138928"/>
            <a:ext cx="3688080" cy="310896"/>
          </a:xfrm>
          <a:prstGeom prst="roundRect">
            <a:avLst/>
          </a:prstGeom>
          <a:solidFill>
            <a:srgbClr val="D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>
            <p:custDataLst>
              <p:tags r:id="rId8"/>
            </p:custDataLst>
          </p:nvPr>
        </p:nvSpPr>
        <p:spPr>
          <a:xfrm>
            <a:off x="4373880" y="5138928"/>
            <a:ext cx="3413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机制 · 为什么有效</a:t>
            </a:r>
            <a:endParaRPr sz="105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>
            <p:custDataLst>
              <p:tags r:id="rId9"/>
            </p:custDataLst>
          </p:nvPr>
        </p:nvSpPr>
        <p:spPr>
          <a:xfrm>
            <a:off x="4373880" y="5522976"/>
            <a:ext cx="341376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connector 定义跨阶段传递（hidden/embed/codec/chunk），调度器可对每阶段独立 batch 与建图；再按并发聚合请求填满空转 SM。</a:t>
            </a:r>
            <a:endParaRPr sz="95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>
            <p:custDataLst>
              <p:tags r:id="rId10"/>
            </p:custDataLst>
          </p:nvPr>
        </p:nvSpPr>
        <p:spPr>
          <a:xfrm>
            <a:off x="8061960" y="5138928"/>
            <a:ext cx="3688080" cy="960120"/>
          </a:xfrm>
          <a:prstGeom prst="roundRect">
            <a:avLst/>
          </a:prstGeom>
          <a:solidFill>
            <a:srgbClr val="F1F3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>
            <p:custDataLst>
              <p:tags r:id="rId11"/>
            </p:custDataLst>
          </p:nvPr>
        </p:nvSpPr>
        <p:spPr>
          <a:xfrm>
            <a:off x="8061960" y="5138928"/>
            <a:ext cx="3688080" cy="310896"/>
          </a:xfrm>
          <a:prstGeom prst="roundRect">
            <a:avLst/>
          </a:prstGeom>
          <a:solidFill>
            <a:srgbClr val="E1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>
            <p:custDataLst>
              <p:tags r:id="rId12"/>
            </p:custDataLst>
          </p:nvPr>
        </p:nvSpPr>
        <p:spPr>
          <a:xfrm>
            <a:off x="8199120" y="5138928"/>
            <a:ext cx="3413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收益 · What you gain</a:t>
            </a:r>
            <a:endParaRPr sz="10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>
            <p:custDataLst>
              <p:tags r:id="rId13"/>
            </p:custDataLst>
          </p:nvPr>
        </p:nvSpPr>
        <p:spPr>
          <a:xfrm>
            <a:off x="8199120" y="5522976"/>
            <a:ext cx="3413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每阶段独立 max_num_seqs / 采样 / 建图 / 副本 —— 是后续所有优化的前提；即 Batch 基线。</a:t>
            </a:r>
            <a:endParaRPr sz="95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Graph：三阶段不同捕获点</a:t>
            </a:r>
            <a:endParaRPr sz="26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同一原理（固定算子序列 record → replay），捕获位置各异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9410" y="1189990"/>
            <a:ext cx="11374120" cy="414274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vLLM-Omni · Speech Model Support &amp; Optimization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332720" y="651052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9 / 19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11480" y="5394960"/>
            <a:ext cx="3688080" cy="960120"/>
          </a:xfrm>
          <a:prstGeom prst="roundRect">
            <a:avLst/>
          </a:prstGeom>
          <a:solidFill>
            <a:srgbClr val="F1F3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11480" y="5394960"/>
            <a:ext cx="3688080" cy="310896"/>
          </a:xfrm>
          <a:prstGeom prst="roundRect">
            <a:avLst/>
          </a:prstGeom>
          <a:solidFill>
            <a:srgbClr val="FFC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5394960"/>
            <a:ext cx="3413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Why · 问题</a:t>
            </a:r>
            <a:endParaRPr sz="105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48640" y="5779008"/>
            <a:ext cx="3413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批处理提升了占用率，但每个 decode step 仍反复付出 CPU 侧 kernel dispatch；Talker 每句上百短步，launch 税主导 TPOT，RTF 高于实时。</a:t>
            </a:r>
            <a:endParaRPr sz="95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Rounded Rectangle 49"/>
          <p:cNvSpPr/>
          <p:nvPr/>
        </p:nvSpPr>
        <p:spPr>
          <a:xfrm>
            <a:off x="4236720" y="5394960"/>
            <a:ext cx="3688080" cy="960120"/>
          </a:xfrm>
          <a:prstGeom prst="roundRect">
            <a:avLst/>
          </a:prstGeom>
          <a:solidFill>
            <a:srgbClr val="F1F3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4236720" y="5394960"/>
            <a:ext cx="3688080" cy="310896"/>
          </a:xfrm>
          <a:prstGeom prst="roundRect">
            <a:avLst/>
          </a:prstGeom>
          <a:solidFill>
            <a:srgbClr val="D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73880" y="5394960"/>
            <a:ext cx="3413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机制 · 为什么有效</a:t>
            </a:r>
            <a:endParaRPr sz="105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373880" y="5779008"/>
            <a:ext cx="3413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三阶段各有建图点：Thinker/Talker 走 vLLM 外层 decode graph；Talker 内层 code predictor 用 torch.compile；Code2Wav 用内层 CUDAGraphDecoderWrapper 分桶。</a:t>
            </a:r>
            <a:endParaRPr sz="95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8061960" y="5394960"/>
            <a:ext cx="3688080" cy="960120"/>
          </a:xfrm>
          <a:prstGeom prst="roundRect">
            <a:avLst/>
          </a:prstGeom>
          <a:solidFill>
            <a:srgbClr val="F1F3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061960" y="5394960"/>
            <a:ext cx="3688080" cy="310896"/>
          </a:xfrm>
          <a:prstGeom prst="roundRect">
            <a:avLst/>
          </a:prstGeom>
          <a:solidFill>
            <a:srgbClr val="E1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199120" y="5394960"/>
            <a:ext cx="3413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收益 · What you gain</a:t>
            </a:r>
            <a:endParaRPr sz="10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199120" y="5779008"/>
            <a:ext cx="3413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req/s 2.2→8.6（+299%）· audio TTFP 5884→2790 ms · RTF 1.15→0.59；扫表中最大的单项吞吐跃升。</a:t>
            </a:r>
            <a:endParaRPr sz="95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Async Chunk：流水线重叠是 TTFP 的关键杠杆</a:t>
            </a:r>
            <a:endParaRPr sz="26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同步全量屏障 Before  vs  增量交接 After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320040" y="5029200"/>
            <a:ext cx="11567160" cy="1097280"/>
          </a:xfrm>
          <a:prstGeom prst="roundRect">
            <a:avLst>
              <a:gd name="adj" fmla="val 15000"/>
            </a:avLst>
          </a:prstGeom>
          <a:solidFill>
            <a:srgbClr val="F1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1663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audio TTFP</a:t>
            </a:r>
            <a:endParaRPr sz="120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544068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2790 → 655 ms</a:t>
            </a:r>
            <a:endParaRPr sz="15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扫表最大单项降幅</a:t>
            </a:r>
            <a:endParaRPr sz="110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343400" y="51663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机制</a:t>
            </a:r>
            <a:endParaRPr sz="120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343400" y="544068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增量交接 + IO/计算重叠</a:t>
            </a:r>
            <a:endParaRPr sz="15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343400" y="576072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首包只需几帧 codec</a:t>
            </a:r>
            <a:endParaRPr sz="110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38160" y="5166360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可调</a:t>
            </a:r>
            <a:endParaRPr sz="1200" b="1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138160" y="5440680"/>
            <a:ext cx="3657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initial / codec_chunk_frames</a:t>
            </a:r>
            <a:endParaRPr sz="15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138160" y="5760720"/>
            <a:ext cx="3657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延迟 ↔ 质量</a:t>
            </a:r>
            <a:endParaRPr sz="110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601200" y="749808"/>
            <a:ext cx="21945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PR #727 · #951 · #1656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vLLM-Omni · Speech Model Support &amp; Optimization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332720" y="6510528"/>
            <a:ext cx="14630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10 / 19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770" y="1071880"/>
            <a:ext cx="7692390" cy="3917950"/>
          </a:xfrm>
          <a:prstGeom prst="rect">
            <a:avLst/>
          </a:prstGeom>
        </p:spPr>
      </p:pic>
      <p:sp>
        <p:nvSpPr>
          <p:cNvPr id="53" name="Rounded Rectangle 52"/>
          <p:cNvSpPr/>
          <p:nvPr/>
        </p:nvSpPr>
        <p:spPr>
          <a:xfrm>
            <a:off x="8275320" y="1143000"/>
            <a:ext cx="3520440" cy="3703320"/>
          </a:xfrm>
          <a:prstGeom prst="roundRect">
            <a:avLst/>
          </a:prstGeom>
          <a:solidFill>
            <a:srgbClr val="F1F3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275320" y="1143000"/>
            <a:ext cx="3520440" cy="384048"/>
          </a:xfrm>
          <a:prstGeom prst="roundRect">
            <a:avLst/>
          </a:prstGeom>
          <a:solidFill>
            <a:srgbClr val="D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30768" y="1143000"/>
            <a:ext cx="3200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为什么是 TTFP 关键</a:t>
            </a:r>
            <a:endParaRPr sz="115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430768" y="1645920"/>
            <a:ext cx="324612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0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Why：</a:t>
            </a:r>
            <a:r>
              <a:rPr sz="100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建图后各阶段更快，但仍是全量屏障——Talker 要等 Thinker 跑完，Code2Wav 要等整份 payload。</a:t>
            </a:r>
            <a:endParaRPr sz="100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700"/>
              </a:spcAft>
            </a:pPr>
            <a:r>
              <a:rPr sz="10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机制：</a:t>
            </a:r>
            <a:r>
              <a:rPr sz="100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Thinker 增量吐 embedding；Talker 按 initial/codec_chunk_frames 切片；异步调度把 chunk 传输与阶段计算重叠。</a:t>
            </a:r>
            <a:endParaRPr sz="100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700"/>
              </a:spcAft>
            </a:pPr>
            <a:r>
              <a:rPr sz="1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收益：</a:t>
            </a:r>
            <a:r>
              <a:rPr sz="100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首音只需几帧 codec，无需等整段生成；TTFP 2790→655 ms（−77%），全表最大降幅。</a:t>
            </a:r>
            <a:endParaRPr sz="100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Async Output：非阻塞 payload 构建</a:t>
            </a:r>
            <a:endParaRPr sz="26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把 payload 拼装移出 decode 路径，decode step 背靠背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1015" y="1109345"/>
            <a:ext cx="9302115" cy="4989195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vLLM-Omni · Speech Model Support &amp; Optimization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332720" y="651052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11 / 19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9921240" y="1143000"/>
            <a:ext cx="1874519" cy="4892040"/>
          </a:xfrm>
          <a:prstGeom prst="roundRect">
            <a:avLst/>
          </a:prstGeom>
          <a:solidFill>
            <a:srgbClr val="F1F3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921240" y="1143000"/>
            <a:ext cx="1874519" cy="384048"/>
          </a:xfrm>
          <a:prstGeom prst="roundRect">
            <a:avLst/>
          </a:prstGeom>
          <a:solidFill>
            <a:srgbClr val="E1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40112" y="1143000"/>
            <a:ext cx="1645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非阻塞收益</a:t>
            </a:r>
            <a:endParaRPr sz="11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058400" y="1645920"/>
            <a:ext cx="1627632" cy="4297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Why</a:t>
            </a:r>
            <a:endParaRPr sz="10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93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同步构建 payload 会在 chunk 边界阻塞 decode worker，GPU 空耗在拷贝/调度上。</a:t>
            </a:r>
            <a:endParaRPr sz="93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机制</a:t>
            </a:r>
            <a:endParaRPr sz="10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93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async_omni_output 把 payload 组装移出 decode 路径，Thinker 立即回到下一 token，connector 异步拼装发送。</a:t>
            </a:r>
            <a:endParaRPr sz="93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1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收益</a:t>
            </a:r>
            <a:endParaRPr sz="1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spcAft>
                <a:spcPts val="500"/>
              </a:spcAft>
            </a:pPr>
            <a:r>
              <a:rPr sz="93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步间空隙 2.8 ms→41 µs；RTF 0.63→0.47，TTFP 不回退（~631 ms）。</a:t>
            </a:r>
            <a:endParaRPr sz="93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lang="zh-CN" altLang="en-US" sz="26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Stage Replicas：只对瓶颈阶段扩副本</a:t>
            </a:r>
            <a:endParaRPr lang="zh-CN" altLang="en-US" sz="26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vLLM-Omni · Speech Model Support &amp; Optimization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0332720" y="651052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12 / 19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115" y="1479550"/>
            <a:ext cx="10034905" cy="3200400"/>
          </a:xfrm>
          <a:prstGeom prst="rect">
            <a:avLst/>
          </a:prstGeom>
        </p:spPr>
      </p:pic>
      <p:sp>
        <p:nvSpPr>
          <p:cNvPr id="9006" name="subtitle 9006"/>
          <p:cNvSpPr txBox="1"/>
          <p:nvPr/>
        </p:nvSpPr>
        <p:spPr>
          <a:xfrm>
            <a:off x="411480" y="71323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Talker / Code2Wav 先饱和成尾瓶颈，Thinker 仍有算力余量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07" name="card part 9007"/>
          <p:cNvSpPr/>
          <p:nvPr>
            <p:custDataLst>
              <p:tags r:id="rId2"/>
            </p:custDataLst>
          </p:nvPr>
        </p:nvSpPr>
        <p:spPr>
          <a:xfrm>
            <a:off x="411480" y="5138928"/>
            <a:ext cx="3688080" cy="960120"/>
          </a:xfrm>
          <a:prstGeom prst="roundRect">
            <a:avLst/>
          </a:prstGeom>
          <a:solidFill>
            <a:srgbClr val="F1F3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8" name="card part 9008"/>
          <p:cNvSpPr/>
          <p:nvPr>
            <p:custDataLst>
              <p:tags r:id="rId3"/>
            </p:custDataLst>
          </p:nvPr>
        </p:nvSpPr>
        <p:spPr>
          <a:xfrm>
            <a:off x="411480" y="5138928"/>
            <a:ext cx="3688080" cy="310896"/>
          </a:xfrm>
          <a:prstGeom prst="roundRect">
            <a:avLst/>
          </a:prstGeom>
          <a:solidFill>
            <a:srgbClr val="FFC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09" name="card part 9009"/>
          <p:cNvSpPr txBox="1"/>
          <p:nvPr>
            <p:custDataLst>
              <p:tags r:id="rId4"/>
            </p:custDataLst>
          </p:nvPr>
        </p:nvSpPr>
        <p:spPr>
          <a:xfrm>
            <a:off x="548640" y="5138928"/>
            <a:ext cx="3413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Why · 问题</a:t>
            </a:r>
            <a:endParaRPr sz="105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10" name="card part 9010"/>
          <p:cNvSpPr txBox="1"/>
          <p:nvPr>
            <p:custDataLst>
              <p:tags r:id="rId5"/>
            </p:custDataLst>
          </p:nvPr>
        </p:nvSpPr>
        <p:spPr>
          <a:xfrm>
            <a:off x="548640" y="5522976"/>
            <a:ext cx="3413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并发升高时 Talker / Code2Wav 先饱和成尾部瓶颈，Thinker 仍有余量；此时整体加卡既贵又无效。</a:t>
            </a:r>
            <a:endParaRPr sz="95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11" name="card part 9011"/>
          <p:cNvSpPr/>
          <p:nvPr>
            <p:custDataLst>
              <p:tags r:id="rId6"/>
            </p:custDataLst>
          </p:nvPr>
        </p:nvSpPr>
        <p:spPr>
          <a:xfrm>
            <a:off x="4236720" y="5138928"/>
            <a:ext cx="3688080" cy="960120"/>
          </a:xfrm>
          <a:prstGeom prst="roundRect">
            <a:avLst/>
          </a:prstGeom>
          <a:solidFill>
            <a:srgbClr val="F1F3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2" name="card part 9012"/>
          <p:cNvSpPr/>
          <p:nvPr>
            <p:custDataLst>
              <p:tags r:id="rId7"/>
            </p:custDataLst>
          </p:nvPr>
        </p:nvSpPr>
        <p:spPr>
          <a:xfrm>
            <a:off x="4236720" y="5138928"/>
            <a:ext cx="3688080" cy="310896"/>
          </a:xfrm>
          <a:prstGeom prst="roundRect">
            <a:avLst/>
          </a:prstGeom>
          <a:solidFill>
            <a:srgbClr val="D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3" name="card part 9013"/>
          <p:cNvSpPr txBox="1"/>
          <p:nvPr>
            <p:custDataLst>
              <p:tags r:id="rId8"/>
            </p:custDataLst>
          </p:nvPr>
        </p:nvSpPr>
        <p:spPr>
          <a:xfrm>
            <a:off x="4373880" y="5138928"/>
            <a:ext cx="3413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机制 · 为什么有效</a:t>
            </a:r>
            <a:endParaRPr sz="105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14" name="card part 9014"/>
          <p:cNvSpPr txBox="1"/>
          <p:nvPr>
            <p:custDataLst>
              <p:tags r:id="rId9"/>
            </p:custDataLst>
          </p:nvPr>
        </p:nvSpPr>
        <p:spPr>
          <a:xfrm>
            <a:off x="4373880" y="5522976"/>
            <a:ext cx="34137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阶段解耦后每阶段可独立设置 num_replicas（stage_config 默认 1），只对瓶颈阶段水平扩副本，请求在同阶段副本间分发。</a:t>
            </a:r>
            <a:endParaRPr sz="95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15" name="card part 9015"/>
          <p:cNvSpPr/>
          <p:nvPr>
            <p:custDataLst>
              <p:tags r:id="rId10"/>
            </p:custDataLst>
          </p:nvPr>
        </p:nvSpPr>
        <p:spPr>
          <a:xfrm>
            <a:off x="8061960" y="5138928"/>
            <a:ext cx="3688080" cy="960120"/>
          </a:xfrm>
          <a:prstGeom prst="roundRect">
            <a:avLst/>
          </a:prstGeom>
          <a:solidFill>
            <a:srgbClr val="F1F3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6" name="card part 9016"/>
          <p:cNvSpPr/>
          <p:nvPr>
            <p:custDataLst>
              <p:tags r:id="rId11"/>
            </p:custDataLst>
          </p:nvPr>
        </p:nvSpPr>
        <p:spPr>
          <a:xfrm>
            <a:off x="8061960" y="5138928"/>
            <a:ext cx="3688080" cy="310896"/>
          </a:xfrm>
          <a:prstGeom prst="roundRect">
            <a:avLst/>
          </a:prstGeom>
          <a:solidFill>
            <a:srgbClr val="E1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17" name="card part 9017"/>
          <p:cNvSpPr txBox="1"/>
          <p:nvPr>
            <p:custDataLst>
              <p:tags r:id="rId12"/>
            </p:custDataLst>
          </p:nvPr>
        </p:nvSpPr>
        <p:spPr>
          <a:xfrm>
            <a:off x="8199120" y="5138928"/>
            <a:ext cx="34137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收益 · What you gain</a:t>
            </a:r>
            <a:endParaRPr sz="10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18" name="card part 9018"/>
          <p:cNvSpPr txBox="1"/>
          <p:nvPr>
            <p:custDataLst>
              <p:tags r:id="rId13"/>
            </p:custDataLst>
          </p:nvPr>
        </p:nvSpPr>
        <p:spPr>
          <a:xfrm>
            <a:off x="8199120" y="5522976"/>
            <a:ext cx="341376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req/s 11.3→11.7，属于高并发下的吞吐补齐，不改善单请求延迟。</a:t>
            </a:r>
            <a:endParaRPr sz="95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Hot-Path Cleanup：模型内部逐步开销</a:t>
            </a:r>
            <a:endParaRPr sz="26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结构性瓶颈清理后，剩下随语句长度累积的小额开销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365760" y="1234440"/>
            <a:ext cx="5623560" cy="1143000"/>
          </a:xfrm>
          <a:prstGeom prst="roundRect">
            <a:avLst>
              <a:gd name="adj" fmla="val 15000"/>
            </a:avLst>
          </a:prstGeom>
          <a:solidFill>
            <a:srgbClr val="DDEA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566928" y="1362456"/>
            <a:ext cx="5257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Decode-only 连接器交接</a:t>
            </a:r>
            <a:endParaRPr sz="140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566928" y="1764792"/>
            <a:ext cx="5257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chunk0 传完整 prefill，其后仅传新 embed.decode 行；流量 O(1)/步</a:t>
            </a:r>
            <a:endParaRPr sz="110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>
            <p:custDataLst>
              <p:tags r:id="rId4"/>
            </p:custDataLst>
          </p:nvPr>
        </p:nvSpPr>
        <p:spPr>
          <a:xfrm>
            <a:off x="6172200" y="1234440"/>
            <a:ext cx="5623560" cy="1143000"/>
          </a:xfrm>
          <a:prstGeom prst="roundRect">
            <a:avLst>
              <a:gd name="adj" fmla="val 15000"/>
            </a:avLst>
          </a:prstGeom>
          <a:solidFill>
            <a:srgbClr val="E1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6373368" y="1362456"/>
            <a:ext cx="5257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单卡 uni executor 默认</a:t>
            </a:r>
            <a:endParaRPr sz="140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6373368" y="1764792"/>
            <a:ext cx="5257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去掉隐式 mp，省去多进程启动 / IPC / worker 同步开销</a:t>
            </a:r>
            <a:endParaRPr sz="110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>
            <p:custDataLst>
              <p:tags r:id="rId7"/>
            </p:custDataLst>
          </p:nvPr>
        </p:nvSpPr>
        <p:spPr>
          <a:xfrm>
            <a:off x="365760" y="2542032"/>
            <a:ext cx="5623560" cy="1143000"/>
          </a:xfrm>
          <a:prstGeom prst="roundRect">
            <a:avLst>
              <a:gd name="adj" fmla="val 15000"/>
            </a:avLst>
          </a:prstGeom>
          <a:solidFill>
            <a:srgbClr val="D4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566928" y="2670048"/>
            <a:ext cx="5257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Payload 构建瘦身</a:t>
            </a:r>
            <a:endParaRPr sz="140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>
            <p:custDataLst>
              <p:tags r:id="rId9"/>
            </p:custDataLst>
          </p:nvPr>
        </p:nvSpPr>
        <p:spPr>
          <a:xfrm>
            <a:off x="566928" y="3072384"/>
            <a:ext cx="5257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去掉逐 chunk 的 torch.cat；final stage 本地时跳过 D2H</a:t>
            </a:r>
            <a:endParaRPr sz="110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>
            <p:custDataLst>
              <p:tags r:id="rId10"/>
            </p:custDataLst>
          </p:nvPr>
        </p:nvSpPr>
        <p:spPr>
          <a:xfrm>
            <a:off x="6172200" y="2542032"/>
            <a:ext cx="5623560" cy="1143000"/>
          </a:xfrm>
          <a:prstGeom prst="roundRect">
            <a:avLst>
              <a:gd name="adj" fmla="val 15000"/>
            </a:avLst>
          </a:prstGeom>
          <a:solidFill>
            <a:srgbClr val="FFDD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6373368" y="2670048"/>
            <a:ext cx="5257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Talker code predictor 重写</a:t>
            </a:r>
            <a:endParaRPr sz="140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6373368" y="3072384"/>
            <a:ext cx="5257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re-prefill + SDPA + GQA + inline top-k + torch.compile，替代 HF generate()</a:t>
            </a:r>
            <a:endParaRPr sz="110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3"/>
            </p:custDataLst>
          </p:nvPr>
        </p:nvSpPr>
        <p:spPr>
          <a:xfrm>
            <a:off x="365760" y="3849624"/>
            <a:ext cx="5623560" cy="1143000"/>
          </a:xfrm>
          <a:prstGeom prst="roundRect">
            <a:avLst>
              <a:gd name="adj" fmla="val 15000"/>
            </a:avLst>
          </a:prstGeom>
          <a:solidFill>
            <a:srgbClr val="FFC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566928" y="3977640"/>
            <a:ext cx="5257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GPU 常驻 decode 状态</a:t>
            </a:r>
            <a:endParaRPr sz="140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566928" y="4379976"/>
            <a:ext cx="52578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中间张量留在 buffer，避免每步 D2H 往返；跳过多模态 mrope</a:t>
            </a:r>
            <a:endParaRPr sz="110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vLLM-Omni · Speech Model Support &amp; Optimization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332720" y="6510528"/>
            <a:ext cx="14630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13 / 19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15568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优化收益汇总 · 层层叠加</a:t>
            </a:r>
            <a:endParaRPr sz="26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155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并发 c=64 下逐层累积：吞吐 ~5.4× · TTFP −89% · RTF 进入实时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vLLM-Omni · Speech Model Support &amp; Optimization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332720" y="6510528"/>
            <a:ext cx="14630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14 / 19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188720"/>
            <a:ext cx="6867280" cy="248259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3781044"/>
            <a:ext cx="6804151" cy="248259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635240" y="1188720"/>
            <a:ext cx="4160520" cy="5074920"/>
          </a:xfrm>
          <a:prstGeom prst="roundRect">
            <a:avLst/>
          </a:prstGeom>
          <a:solidFill>
            <a:srgbClr val="F1F3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35240" y="1188720"/>
            <a:ext cx="4160520" cy="420624"/>
          </a:xfrm>
          <a:prstGeom prst="roundRect">
            <a:avLst/>
          </a:prstGeom>
          <a:solidFill>
            <a:srgbClr val="1D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19" y="1188720"/>
            <a:ext cx="38404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EF8600"/>
                </a:solidFill>
                <a:latin typeface="微软雅黑" panose="020B0503020204020204" charset="-122"/>
                <a:ea typeface="微软雅黑" panose="020B0503020204020204" charset="-122"/>
              </a:rPr>
              <a:t>一起看：层层叠加 (c=64)</a:t>
            </a:r>
            <a:endParaRPr sz="1250" b="1">
              <a:solidFill>
                <a:srgbClr val="EF86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36408" y="1783080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Baseline (Batch)</a:t>
            </a:r>
            <a:endParaRPr sz="105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836408" y="2020824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2.2 req/s · 5884 ms · RTF 1.15</a:t>
            </a:r>
            <a:endParaRPr sz="98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36408" y="2350008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+ CUDA Graph</a:t>
            </a:r>
            <a:endParaRPr sz="105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36408" y="2587752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8.6 (+299%) · 2790 ms · 0.59</a:t>
            </a:r>
            <a:endParaRPr sz="98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836408" y="2916936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+ Async Chunk</a:t>
            </a:r>
            <a:endParaRPr sz="105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36408" y="3154680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9.3 · 655 ms (−77%) · 0.63</a:t>
            </a:r>
            <a:endParaRPr sz="98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36408" y="3483864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+ Async Output</a:t>
            </a:r>
            <a:endParaRPr sz="105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36408" y="3721608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11.3 · 631 ms · 0.47</a:t>
            </a:r>
            <a:endParaRPr sz="98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36408" y="4050791"/>
            <a:ext cx="3794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+ Stage Replicas</a:t>
            </a:r>
            <a:endParaRPr sz="105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836408" y="4288536"/>
            <a:ext cx="37947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11.7 · 632 ms · 0.47</a:t>
            </a:r>
            <a:endParaRPr sz="98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36408" y="4636007"/>
            <a:ext cx="3794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EF8600"/>
                </a:solidFill>
                <a:latin typeface="微软雅黑" panose="020B0503020204020204" charset="-122"/>
                <a:ea typeface="微软雅黑" panose="020B0503020204020204" charset="-122"/>
              </a:rPr>
              <a:t>合计：</a:t>
            </a:r>
            <a:r>
              <a:rPr sz="100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吞吐 ~5.4×，TTFP ~5884→632 ms，RTF 1.15→0.47；CUDA Graph 与 Async Chunk 主导延迟，Async Output/Replicas 补高并发吞吐。</a:t>
            </a:r>
            <a:endParaRPr sz="100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312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>
                <a:solidFill>
                  <a:srgbClr val="EF8600"/>
                </a:solidFill>
                <a:latin typeface="微软雅黑" panose="020B0503020204020204" charset="-122"/>
                <a:ea typeface="微软雅黑" panose="020B0503020204020204" charset="-122"/>
              </a:rPr>
              <a:t>PART 03</a:t>
            </a:r>
            <a:endParaRPr sz="1800" b="1">
              <a:solidFill>
                <a:srgbClr val="EF86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51760"/>
            <a:ext cx="100584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MiniCPM 支持与优化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066160"/>
            <a:ext cx="91440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B8C5D4"/>
                </a:solidFill>
                <a:latin typeface="微软雅黑" panose="020B0503020204020204" charset="-122"/>
                <a:ea typeface="微软雅黑" panose="020B0503020204020204" charset="-122"/>
              </a:rPr>
              <a:t>从正确性优先接入，到 Full-Duplex 与加速路线图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2"/>
          <p:cNvSpPr/>
          <p:nvPr/>
        </p:nvSpPr>
        <p:spPr>
          <a:xfrm>
            <a:off x="822960" y="2950000"/>
            <a:ext cx="1005840" cy="4572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5"/>
          <p:cNvSpPr txBox="1"/>
          <p:nvPr/>
        </p:nvSpPr>
        <p:spPr>
          <a:xfrm>
            <a:off x="822960" y="3706240"/>
            <a:ext cx="9144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B8C5D4"/>
                </a:solidFill>
                <a:latin typeface="微软雅黑" panose="020B0503020204020204" charset="-122"/>
                <a:ea typeface="微软雅黑" panose="020B0503020204020204" charset="-122"/>
              </a:rPr>
              <a:t>本节内容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2"/>
          <p:cNvSpPr/>
          <p:nvPr/>
        </p:nvSpPr>
        <p:spPr>
          <a:xfrm>
            <a:off x="845820" y="4236592"/>
            <a:ext cx="118872" cy="118872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5"/>
          <p:cNvSpPr txBox="1"/>
          <p:nvPr/>
        </p:nvSpPr>
        <p:spPr>
          <a:xfrm>
            <a:off x="1060704" y="4117720"/>
            <a:ext cx="980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4EAF2"/>
                </a:solidFill>
                <a:latin typeface="微软雅黑" panose="020B0503020204020204" charset="-122"/>
                <a:ea typeface="微软雅黑" panose="020B0503020204020204" charset="-122"/>
              </a:rPr>
              <a:t>MiniCPM-o 4.5 与 Qwen3-Omni 的三阶段结构对比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ectangle 2"/>
          <p:cNvSpPr/>
          <p:nvPr/>
        </p:nvSpPr>
        <p:spPr>
          <a:xfrm>
            <a:off x="845820" y="4656592"/>
            <a:ext cx="118872" cy="118872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5"/>
          <p:cNvSpPr txBox="1"/>
          <p:nvPr/>
        </p:nvSpPr>
        <p:spPr>
          <a:xfrm>
            <a:off x="1060704" y="4537720"/>
            <a:ext cx="980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4EAF2"/>
                </a:solidFill>
                <a:latin typeface="微软雅黑" panose="020B0503020204020204" charset="-122"/>
                <a:ea typeface="微软雅黑" panose="020B0503020204020204" charset="-122"/>
              </a:rPr>
              <a:t>优化项逐项对齐：GPU 与 NPU 的落地状态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2"/>
          <p:cNvSpPr/>
          <p:nvPr/>
        </p:nvSpPr>
        <p:spPr>
          <a:xfrm>
            <a:off x="845820" y="5076592"/>
            <a:ext cx="118872" cy="118872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5"/>
          <p:cNvSpPr txBox="1"/>
          <p:nvPr/>
        </p:nvSpPr>
        <p:spPr>
          <a:xfrm>
            <a:off x="1060704" y="4957720"/>
            <a:ext cx="980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4EAF2"/>
                </a:solidFill>
                <a:latin typeface="微软雅黑" panose="020B0503020204020204" charset="-122"/>
                <a:ea typeface="微软雅黑" panose="020B0503020204020204" charset="-122"/>
              </a:rPr>
              <a:t>已合入能力 · 进行中 PR · RFC 后续方向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ectangle 2"/>
          <p:cNvSpPr/>
          <p:nvPr/>
        </p:nvSpPr>
        <p:spPr>
          <a:xfrm>
            <a:off x="9988735" y="5397880"/>
            <a:ext cx="380000" cy="300000"/>
          </a:xfrm>
          <a:prstGeom prst="rect">
            <a:avLst/>
          </a:prstGeom>
          <a:solidFill>
            <a:srgbClr val="2C4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5"/>
          <p:cNvSpPr txBox="1"/>
          <p:nvPr/>
        </p:nvSpPr>
        <p:spPr>
          <a:xfrm>
            <a:off x="9988735" y="5428360"/>
            <a:ext cx="38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8A9AB4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2"/>
          <p:cNvSpPr/>
          <p:nvPr/>
        </p:nvSpPr>
        <p:spPr>
          <a:xfrm>
            <a:off x="10488735" y="5397880"/>
            <a:ext cx="380000" cy="300000"/>
          </a:xfrm>
          <a:prstGeom prst="rect">
            <a:avLst/>
          </a:prstGeom>
          <a:solidFill>
            <a:srgbClr val="2C42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5"/>
          <p:cNvSpPr txBox="1"/>
          <p:nvPr/>
        </p:nvSpPr>
        <p:spPr>
          <a:xfrm>
            <a:off x="10488735" y="5428360"/>
            <a:ext cx="38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8A9AB4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ectangle 2"/>
          <p:cNvSpPr/>
          <p:nvPr/>
        </p:nvSpPr>
        <p:spPr>
          <a:xfrm>
            <a:off x="10988735" y="5397880"/>
            <a:ext cx="380000" cy="30000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5"/>
          <p:cNvSpPr txBox="1"/>
          <p:nvPr/>
        </p:nvSpPr>
        <p:spPr>
          <a:xfrm>
            <a:off x="10988735" y="5428360"/>
            <a:ext cx="380000" cy="240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1600" b="0">
              <a:solidFill>
                <a:srgbClr val="B8C5D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模型结构对比 · 三阶段</a:t>
            </a:r>
            <a:endParaRPr sz="25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</a:rPr>
              <a:t>MiniCPM-o 4.5（3 阶段, #5228）  vs  Qwen3-Omni（3 阶段）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vLLM-Omni · Speech Model Support &amp; Optimization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0332720" y="651052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16 / 19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11480" y="2200000"/>
            <a:ext cx="5532120" cy="27000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411480" y="2200000"/>
            <a:ext cx="5532120" cy="384048"/>
          </a:xfrm>
          <a:prstGeom prst="roundRect">
            <a:avLst/>
          </a:prstGeom>
          <a:solidFill>
            <a:srgbClr val="D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6072" y="2200000"/>
            <a:ext cx="52029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1D2F50"/>
                </a:solidFill>
                <a:latin typeface="微软雅黑" panose="020B0503020204020204" charset="-122"/>
              </a:rPr>
              <a:t>MiniCPM-o 4.5 · 3 阶段（Dense LLM）</a:t>
            </a:r>
            <a:endParaRPr sz="125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Rounded Rectangle 58"/>
          <p:cNvSpPr/>
          <p:nvPr/>
        </p:nvSpPr>
        <p:spPr>
          <a:xfrm>
            <a:off x="505480" y="3092024"/>
            <a:ext cx="1580000" cy="1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5480" y="3272024"/>
            <a:ext cx="158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60" b="1">
                <a:solidFill>
                  <a:srgbClr val="1D2F50"/>
                </a:solidFill>
                <a:latin typeface="微软雅黑" panose="020B0503020204020204" charset="-122"/>
              </a:rPr>
              <a:t>Stage0 · Thinker</a:t>
            </a:r>
            <a:endParaRPr sz="96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65480" y="3712024"/>
            <a:ext cx="146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6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多模态理解 · 文本生成</a:t>
            </a:r>
            <a:endParaRPr sz="86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ight Arrow 70"/>
          <p:cNvSpPr/>
          <p:nvPr/>
        </p:nvSpPr>
        <p:spPr>
          <a:xfrm>
            <a:off x="3981410" y="3641440"/>
            <a:ext cx="274320" cy="201168"/>
          </a:xfrm>
          <a:prstGeom prst="rightArrow">
            <a:avLst/>
          </a:prstGeom>
          <a:solidFill>
            <a:srgbClr val="EF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Arrow 70"/>
          <p:cNvSpPr/>
          <p:nvPr/>
        </p:nvSpPr>
        <p:spPr>
          <a:xfrm>
            <a:off x="2099350" y="3641440"/>
            <a:ext cx="274320" cy="201168"/>
          </a:xfrm>
          <a:prstGeom prst="rightArrow">
            <a:avLst/>
          </a:prstGeom>
          <a:solidFill>
            <a:srgbClr val="EF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2387540" y="3092024"/>
            <a:ext cx="1580000" cy="1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71"/>
          <p:cNvSpPr/>
          <p:nvPr/>
        </p:nvSpPr>
        <p:spPr>
          <a:xfrm>
            <a:off x="4269600" y="3092024"/>
            <a:ext cx="1580000" cy="1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C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387540" y="3272024"/>
            <a:ext cx="158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60" b="1">
                <a:solidFill>
                  <a:srgbClr val="1D2F50"/>
                </a:solidFill>
                <a:latin typeface="微软雅黑" panose="020B0503020204020204" charset="-122"/>
              </a:rPr>
              <a:t>Stage1 · Talker</a:t>
            </a:r>
            <a:endParaRPr sz="96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72"/>
          <p:cNvSpPr txBox="1"/>
          <p:nvPr/>
        </p:nvSpPr>
        <p:spPr>
          <a:xfrm>
            <a:off x="4269600" y="3272024"/>
            <a:ext cx="158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60" b="1">
                <a:solidFill>
                  <a:srgbClr val="1D2F50"/>
                </a:solidFill>
                <a:latin typeface="微软雅黑" panose="020B0503020204020204" charset="-122"/>
              </a:rPr>
              <a:t>Stage2 · Code2Wav</a:t>
            </a:r>
            <a:endParaRPr sz="96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2447540" y="3712024"/>
            <a:ext cx="146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20" b="0">
                <a:solidFill>
                  <a:srgbClr val="1F2328"/>
                </a:solidFill>
                <a:latin typeface="微软雅黑" panose="020B0503020204020204" charset="-122"/>
              </a:rPr>
              <a:t>MiniCPMTTS · codec token</a:t>
            </a:r>
            <a:endParaRPr sz="82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74"/>
          <p:cNvSpPr txBox="1"/>
          <p:nvPr/>
        </p:nvSpPr>
        <p:spPr>
          <a:xfrm>
            <a:off x="4329600" y="3712024"/>
            <a:ext cx="146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820" b="0">
                <a:solidFill>
                  <a:srgbClr val="1F2328"/>
                </a:solidFill>
                <a:latin typeface="微软雅黑" panose="020B0503020204020204" charset="-122"/>
              </a:rPr>
              <a:t>Token2Wav · 24kHz 波形</a:t>
            </a:r>
            <a:endParaRPr sz="82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6217920" y="2200000"/>
            <a:ext cx="5532120" cy="2700000"/>
          </a:xfrm>
          <a:prstGeom prst="roundRect">
            <a:avLst/>
          </a:prstGeom>
          <a:solidFill>
            <a:srgbClr val="F6F8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6217920" y="2200000"/>
            <a:ext cx="5532120" cy="384048"/>
          </a:xfrm>
          <a:prstGeom prst="roundRect">
            <a:avLst/>
          </a:prstGeom>
          <a:solidFill>
            <a:srgbClr val="E1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82512" y="2200000"/>
            <a:ext cx="520293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Qwen3-Omni MoE · 3 阶段</a:t>
            </a:r>
            <a:endParaRPr sz="125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6311920" y="3092024"/>
            <a:ext cx="1580000" cy="1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311920" y="3272024"/>
            <a:ext cx="158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Thinker</a:t>
            </a:r>
            <a:endParaRPr sz="94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6371920" y="3712024"/>
            <a:ext cx="146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多模态理解 · 文本生成</a:t>
            </a:r>
            <a:endParaRPr sz="78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Right Arrow 92"/>
          <p:cNvSpPr/>
          <p:nvPr/>
        </p:nvSpPr>
        <p:spPr>
          <a:xfrm>
            <a:off x="7905790" y="3641440"/>
            <a:ext cx="274320" cy="201168"/>
          </a:xfrm>
          <a:prstGeom prst="rightArrow">
            <a:avLst/>
          </a:prstGeom>
          <a:solidFill>
            <a:srgbClr val="EF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8193980" y="3092024"/>
            <a:ext cx="1580000" cy="1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193980" y="3272024"/>
            <a:ext cx="158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Talker</a:t>
            </a:r>
            <a:endParaRPr sz="94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253980" y="3712024"/>
            <a:ext cx="146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codec AR · Code Predictor</a:t>
            </a:r>
            <a:endParaRPr sz="78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Right Arrow 101"/>
          <p:cNvSpPr/>
          <p:nvPr/>
        </p:nvSpPr>
        <p:spPr>
          <a:xfrm>
            <a:off x="9787850" y="3641440"/>
            <a:ext cx="274320" cy="201168"/>
          </a:xfrm>
          <a:prstGeom prst="rightArrow">
            <a:avLst/>
          </a:prstGeom>
          <a:solidFill>
            <a:srgbClr val="EF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0076040" y="3092024"/>
            <a:ext cx="1580000" cy="13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FC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076040" y="3272024"/>
            <a:ext cx="1580000" cy="2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4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Code2Wav</a:t>
            </a:r>
            <a:endParaRPr sz="94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10136040" y="3712024"/>
            <a:ext cx="1460000" cy="48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声码器 · 波形输出</a:t>
            </a:r>
            <a:endParaRPr sz="780" b="0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411480" y="5450000"/>
            <a:ext cx="11338560" cy="475488"/>
          </a:xfrm>
          <a:prstGeom prst="roundRect">
            <a:avLst/>
          </a:prstGeom>
          <a:solidFill>
            <a:srgbClr val="1D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21792" y="5595669"/>
            <a:ext cx="10881360" cy="1841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EF8600"/>
                </a:solidFill>
                <a:latin typeface="微软雅黑" panose="020B0503020204020204" charset="-122"/>
                <a:ea typeface="微软雅黑" panose="020B0503020204020204" charset="-122"/>
              </a:rPr>
              <a:t>关键差异：两者都是 3 阶段流水线 —— 差异在 Thinker 主干（Dense vs MoE）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vLLM-Omni · Speech Model Support &amp; Optimization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332720" y="651052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17 / 19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411480" y="256032"/>
            <a:ext cx="11338560" cy="3689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MiniCPM-o 4.5 优化进度 </a:t>
            </a:r>
            <a:endParaRPr sz="24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逐项标注 MiniCPM-o 4.5 在 Ascend NPU 上的落地状态（✅ 已完成 / 🔶 进行中 / ❌ 未完成）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411480" y="1097280"/>
            <a:ext cx="256032" cy="256032"/>
          </a:xfrm>
          <a:prstGeom prst="roundRect">
            <a:avLst/>
          </a:prstGeom>
          <a:solidFill>
            <a:srgbClr val="E6F4E6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22376" y="1097280"/>
            <a:ext cx="1000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✅ 已完成</a:t>
            </a:r>
            <a:endParaRPr sz="10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828800" y="1097280"/>
            <a:ext cx="256032" cy="256032"/>
          </a:xfrm>
          <a:prstGeom prst="roundRect">
            <a:avLst/>
          </a:prstGeom>
          <a:solidFill>
            <a:srgbClr val="FFE9CC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139696" y="1097280"/>
            <a:ext cx="1000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🔶 进行中</a:t>
            </a:r>
            <a:endParaRPr sz="105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3246120" y="1097280"/>
            <a:ext cx="256032" cy="256032"/>
          </a:xfrm>
          <a:prstGeom prst="roundRect">
            <a:avLst/>
          </a:prstGeom>
          <a:solidFill>
            <a:srgbClr val="FBE3E5"/>
          </a:solidFill>
          <a:ln w="12700">
            <a:solidFill>
              <a:srgbClr val="B0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557015" y="1097280"/>
            <a:ext cx="1000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B02A37"/>
                </a:solidFill>
                <a:latin typeface="微软雅黑" panose="020B0503020204020204" charset="-122"/>
                <a:ea typeface="微软雅黑" panose="020B0503020204020204" charset="-122"/>
              </a:rPr>
              <a:t>❌ 未完成</a:t>
            </a:r>
            <a:endParaRPr sz="1050" b="1">
              <a:solidFill>
                <a:srgbClr val="B0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411480" y="1440000"/>
            <a:ext cx="2600000" cy="400000"/>
          </a:xfrm>
          <a:prstGeom prst="rect">
            <a:avLst/>
          </a:prstGeom>
          <a:solidFill>
            <a:srgbClr val="1D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21208" y="1440000"/>
            <a:ext cx="241712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优化项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Rectangle 60"/>
          <p:cNvSpPr/>
          <p:nvPr/>
        </p:nvSpPr>
        <p:spPr>
          <a:xfrm>
            <a:off x="3200000" y="1440000"/>
            <a:ext cx="1234440" cy="400000"/>
          </a:xfrm>
          <a:prstGeom prst="rect">
            <a:avLst/>
          </a:prstGeom>
          <a:solidFill>
            <a:srgbClr val="1D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61"/>
          <p:cNvSpPr txBox="1"/>
          <p:nvPr/>
        </p:nvSpPr>
        <p:spPr>
          <a:xfrm>
            <a:off x="3200000" y="1440000"/>
            <a:ext cx="123444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NPU 状态</a:t>
            </a:r>
            <a:endParaRPr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4600000" y="1440000"/>
            <a:ext cx="7150039" cy="400000"/>
          </a:xfrm>
          <a:prstGeom prst="rect">
            <a:avLst/>
          </a:prstGeom>
          <a:solidFill>
            <a:srgbClr val="E1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709728" y="1440000"/>
            <a:ext cx="6967159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Ascend NPU 说明 / 相关 PR</a:t>
            </a:r>
            <a:endParaRPr sz="11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411480" y="1840000"/>
            <a:ext cx="11338559" cy="43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21208" y="1840000"/>
            <a:ext cx="241712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阶段拆分 + Batching</a:t>
            </a:r>
            <a:endParaRPr sz="105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4709728" y="1840000"/>
            <a:ext cx="6967159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与 GPU 共用 minicpmo_4_5.yaml 三阶段定义，platforms.npu 仅覆盖图与 token 上限；talker/vocoder 落地见 #5117</a:t>
            </a:r>
            <a:endParaRPr sz="98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411480" y="2270000"/>
            <a:ext cx="11338559" cy="4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21208" y="2270000"/>
            <a:ext cx="241712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Graph</a:t>
            </a:r>
            <a:endParaRPr sz="105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709728" y="2270000"/>
            <a:ext cx="6967159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platforms.npu 对 stage0/1 设 cudagraph_mode=PIECEWISE (#4674)；stage2 Code2Wav 仍 enforce_eager</a:t>
            </a:r>
            <a:endParaRPr sz="98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411480" y="2700000"/>
            <a:ext cx="11338559" cy="43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21208" y="2700000"/>
            <a:ext cx="241712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Async Chunk</a:t>
            </a:r>
            <a:endParaRPr sz="105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4709728" y="2700000"/>
            <a:ext cx="6967159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async_chunk 默认开启；#5290（移植 #5234）把 OmniConnector mixin 接入 NPU runner，修复全量 payload 挂死</a:t>
            </a:r>
            <a:endParaRPr sz="98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411480" y="3130000"/>
            <a:ext cx="11338559" cy="4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21208" y="3130000"/>
            <a:ext cx="241712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Async Output</a:t>
            </a:r>
            <a:endParaRPr sz="105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85"/>
          <p:cNvSpPr/>
          <p:nvPr/>
        </p:nvSpPr>
        <p:spPr>
          <a:xfrm>
            <a:off x="3242220" y="3187266"/>
            <a:ext cx="1150000" cy="315468"/>
          </a:xfrm>
          <a:prstGeom prst="roundRect">
            <a:avLst/>
          </a:prstGeom>
          <a:solidFill>
            <a:srgbClr val="FBE3E5"/>
          </a:solidFill>
          <a:ln w="12700">
            <a:solidFill>
              <a:srgbClr val="B0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86"/>
          <p:cNvSpPr txBox="1"/>
          <p:nvPr/>
        </p:nvSpPr>
        <p:spPr>
          <a:xfrm>
            <a:off x="3242220" y="3187266"/>
            <a:ext cx="1150000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02A37"/>
                </a:solidFill>
                <a:latin typeface="微软雅黑" panose="020B0503020204020204" charset="-122"/>
                <a:ea typeface="微软雅黑" panose="020B0503020204020204" charset="-122"/>
              </a:rPr>
              <a:t>❌ 未完成</a:t>
            </a:r>
            <a:endParaRPr sz="1000" b="1">
              <a:solidFill>
                <a:srgbClr val="B0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709728" y="3130000"/>
            <a:ext cx="6967159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NPU runner 未接入非阻塞 payload 路径，与 GPU 侧同为空白</a:t>
            </a:r>
            <a:endParaRPr sz="98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411480" y="3560000"/>
            <a:ext cx="11338559" cy="43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21208" y="3560000"/>
            <a:ext cx="241712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Stage Replicas</a:t>
            </a:r>
            <a:endParaRPr sz="105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709728" y="3560000"/>
            <a:ext cx="6967159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platforms.npu 未设 num_replicas（默认 1）；待 #5291 拆出 Talker/Token2Wav 后再按阶段扩</a:t>
            </a:r>
            <a:endParaRPr sz="98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5" name="Rectangle 94"/>
          <p:cNvSpPr/>
          <p:nvPr/>
        </p:nvSpPr>
        <p:spPr>
          <a:xfrm>
            <a:off x="411480" y="3990000"/>
            <a:ext cx="11338559" cy="4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21208" y="3990000"/>
            <a:ext cx="241712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Hot-Path Cleanup</a:t>
            </a:r>
            <a:endParaRPr sz="105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97"/>
          <p:cNvSpPr/>
          <p:nvPr/>
        </p:nvSpPr>
        <p:spPr>
          <a:xfrm>
            <a:off x="3242220" y="4047266"/>
            <a:ext cx="1150000" cy="315468"/>
          </a:xfrm>
          <a:prstGeom prst="roundRect">
            <a:avLst/>
          </a:prstGeom>
          <a:solidFill>
            <a:srgbClr val="FFE9CC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98"/>
          <p:cNvSpPr txBox="1"/>
          <p:nvPr/>
        </p:nvSpPr>
        <p:spPr>
          <a:xfrm>
            <a:off x="3242220" y="4047266"/>
            <a:ext cx="1150000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🔶 进行中</a:t>
            </a:r>
            <a:endParaRPr sz="10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709728" y="3990000"/>
            <a:ext cx="6967159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#5242 HiFT 声码器常驻 NPU，免去回落 CPU 的往返拷贝；其余逐步开销清理未跟进</a:t>
            </a:r>
            <a:endParaRPr sz="98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Rectangle 100"/>
          <p:cNvSpPr/>
          <p:nvPr/>
        </p:nvSpPr>
        <p:spPr>
          <a:xfrm>
            <a:off x="411480" y="4420000"/>
            <a:ext cx="11338559" cy="43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21208" y="4420000"/>
            <a:ext cx="241712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分块流式声码</a:t>
            </a:r>
            <a:endParaRPr sz="105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ounded Rectangle 103"/>
          <p:cNvSpPr/>
          <p:nvPr/>
        </p:nvSpPr>
        <p:spPr>
          <a:xfrm>
            <a:off x="3242220" y="4477266"/>
            <a:ext cx="1150000" cy="315468"/>
          </a:xfrm>
          <a:prstGeom prst="roundRect">
            <a:avLst/>
          </a:prstGeom>
          <a:solidFill>
            <a:srgbClr val="E6F4E6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04"/>
          <p:cNvSpPr txBox="1"/>
          <p:nvPr/>
        </p:nvSpPr>
        <p:spPr>
          <a:xfrm>
            <a:off x="3242220" y="4477266"/>
            <a:ext cx="1150000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✅ 已完成</a:t>
            </a:r>
            <a:endParaRPr sz="1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4709728" y="4420000"/>
            <a:ext cx="6967159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#5117 把 talker/token2wav 搬上 NPU，分块流式输出打通（含 NPU 版 DiT attention）</a:t>
            </a:r>
            <a:endParaRPr sz="98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Rounded Rectangle 106"/>
          <p:cNvSpPr/>
          <p:nvPr/>
        </p:nvSpPr>
        <p:spPr>
          <a:xfrm>
            <a:off x="411480" y="5810000"/>
            <a:ext cx="11338560" cy="490000"/>
          </a:xfrm>
          <a:prstGeom prst="roundRect">
            <a:avLst/>
          </a:prstGeom>
          <a:solidFill>
            <a:srgbClr val="1D2F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621792" y="5885773"/>
            <a:ext cx="10881360" cy="3384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EF8600"/>
                </a:solidFill>
                <a:latin typeface="微软雅黑" panose="020B0503020204020204" charset="-122"/>
                <a:ea typeface="微软雅黑" panose="020B0503020204020204" charset="-122"/>
              </a:rPr>
              <a:t>一句话：NPU 侧 talker/vocoder + async_chunk + PIECEWISE 图已入主干 (#5117/#5290/#5242)，全双工已打通；剩算子融合 (RFC #5370)、Async Output 与副本待补。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103"/>
          <p:cNvSpPr/>
          <p:nvPr/>
        </p:nvSpPr>
        <p:spPr>
          <a:xfrm>
            <a:off x="3242220" y="1897266"/>
            <a:ext cx="1150000" cy="315468"/>
          </a:xfrm>
          <a:prstGeom prst="roundRect">
            <a:avLst/>
          </a:prstGeom>
          <a:solidFill>
            <a:srgbClr val="E6F4E6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104"/>
          <p:cNvSpPr txBox="1"/>
          <p:nvPr/>
        </p:nvSpPr>
        <p:spPr>
          <a:xfrm>
            <a:off x="3242220" y="1897266"/>
            <a:ext cx="1150000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buClrTx/>
              <a:buSzTx/>
              <a:buFontTx/>
            </a:pPr>
            <a:r>
              <a:rPr sz="1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✅ 已完成</a:t>
            </a:r>
            <a:endParaRPr sz="1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7" name="Rounded Rectangle 73"/>
          <p:cNvSpPr/>
          <p:nvPr/>
        </p:nvSpPr>
        <p:spPr>
          <a:xfrm>
            <a:off x="3242220" y="2327266"/>
            <a:ext cx="1150000" cy="315468"/>
          </a:xfrm>
          <a:prstGeom prst="roundRect">
            <a:avLst/>
          </a:prstGeom>
          <a:solidFill>
            <a:srgbClr val="FFE9CC"/>
          </a:solidFill>
          <a:ln w="12700">
            <a:solidFill>
              <a:srgbClr val="B0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74"/>
          <p:cNvSpPr txBox="1"/>
          <p:nvPr/>
        </p:nvSpPr>
        <p:spPr>
          <a:xfrm>
            <a:off x="3242220" y="2327266"/>
            <a:ext cx="1150000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🔶 进行中</a:t>
            </a:r>
            <a:endParaRPr sz="1000" b="1">
              <a:solidFill>
                <a:srgbClr val="B0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ounded Rectangle 103"/>
          <p:cNvSpPr/>
          <p:nvPr/>
        </p:nvSpPr>
        <p:spPr>
          <a:xfrm>
            <a:off x="3242220" y="2757266"/>
            <a:ext cx="1150000" cy="315468"/>
          </a:xfrm>
          <a:prstGeom prst="roundRect">
            <a:avLst/>
          </a:prstGeom>
          <a:solidFill>
            <a:srgbClr val="E6F4E6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104"/>
          <p:cNvSpPr txBox="1"/>
          <p:nvPr/>
        </p:nvSpPr>
        <p:spPr>
          <a:xfrm>
            <a:off x="3242220" y="2757266"/>
            <a:ext cx="1150000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✅ 已完成</a:t>
            </a:r>
            <a:endParaRPr sz="1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Rounded Rectangle 91"/>
          <p:cNvSpPr/>
          <p:nvPr/>
        </p:nvSpPr>
        <p:spPr>
          <a:xfrm>
            <a:off x="3242220" y="3617266"/>
            <a:ext cx="1150000" cy="315468"/>
          </a:xfrm>
          <a:prstGeom prst="roundRect">
            <a:avLst/>
          </a:prstGeom>
          <a:solidFill>
            <a:srgbClr val="FFE9CC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92"/>
          <p:cNvSpPr txBox="1"/>
          <p:nvPr/>
        </p:nvSpPr>
        <p:spPr>
          <a:xfrm>
            <a:off x="3242220" y="3617266"/>
            <a:ext cx="1150000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🔶 进行中</a:t>
            </a:r>
            <a:endParaRPr sz="100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01" name="row bg 9201"/>
          <p:cNvSpPr/>
          <p:nvPr/>
        </p:nvSpPr>
        <p:spPr>
          <a:xfrm>
            <a:off x="411480" y="4850000"/>
            <a:ext cx="11338559" cy="4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2" name="row label 9202"/>
          <p:cNvSpPr txBox="1"/>
          <p:nvPr/>
        </p:nvSpPr>
        <p:spPr>
          <a:xfrm>
            <a:off x="521208" y="4850000"/>
            <a:ext cx="241712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全双工 Full-Duplex</a:t>
            </a:r>
            <a:endParaRPr sz="105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03" name="row desc 9203"/>
          <p:cNvSpPr txBox="1"/>
          <p:nvPr/>
        </p:nvSpPr>
        <p:spPr>
          <a:xfrm>
            <a:off x="4709728" y="4850000"/>
            <a:ext cx="6967159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实时运行时 #3907 已合；三阶段 serving #5380 待合</a:t>
            </a:r>
            <a:endParaRPr sz="98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08" name="row bg 9208"/>
          <p:cNvSpPr/>
          <p:nvPr/>
        </p:nvSpPr>
        <p:spPr>
          <a:xfrm>
            <a:off x="411480" y="5280000"/>
            <a:ext cx="11338559" cy="430000"/>
          </a:xfrm>
          <a:prstGeom prst="rect">
            <a:avLst/>
          </a:prstGeom>
          <a:solidFill>
            <a:srgbClr val="F6F8FB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09" name="row label 9209"/>
          <p:cNvSpPr txBox="1"/>
          <p:nvPr/>
        </p:nvSpPr>
        <p:spPr>
          <a:xfrm>
            <a:off x="521208" y="5280000"/>
            <a:ext cx="2417120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>
                <a:solidFill>
                  <a:srgbClr val="1F2328"/>
                </a:solidFill>
                <a:latin typeface="微软雅黑" panose="020B0503020204020204" charset="-122"/>
                <a:ea typeface="微软雅黑" panose="020B0503020204020204" charset="-122"/>
              </a:rPr>
              <a:t>算子融合 / 算子替换</a:t>
            </a:r>
            <a:endParaRPr sz="1050" b="1">
              <a:solidFill>
                <a:srgbClr val="1F232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10" name="row desc 9210"/>
          <p:cNvSpPr txBox="1"/>
          <p:nvPr/>
        </p:nvSpPr>
        <p:spPr>
          <a:xfrm>
            <a:off x="4709728" y="5280000"/>
            <a:ext cx="6967159" cy="43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8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RFC #5370：Talker 单步 RMSNorm 30.7% + RoPE 19.5%，拟融合并换 FlashAttention（报告 E2E +10~15%）；#4712 已注册 vllm-ascend 自定义算子</a:t>
            </a:r>
            <a:endParaRPr sz="98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13" name="chip bg 9213"/>
          <p:cNvSpPr/>
          <p:nvPr/>
        </p:nvSpPr>
        <p:spPr>
          <a:xfrm>
            <a:off x="3242220" y="5337266"/>
            <a:ext cx="1150000" cy="315468"/>
          </a:xfrm>
          <a:prstGeom prst="roundRect">
            <a:avLst/>
          </a:prstGeom>
          <a:solidFill>
            <a:srgbClr val="FFE9CC"/>
          </a:solidFill>
          <a:ln w="12700">
            <a:solidFill>
              <a:srgbClr val="B02A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14" name="chip text 9214"/>
          <p:cNvSpPr txBox="1"/>
          <p:nvPr/>
        </p:nvSpPr>
        <p:spPr>
          <a:xfrm>
            <a:off x="3242220" y="5337266"/>
            <a:ext cx="1150000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🔶 进行中</a:t>
            </a:r>
            <a:endParaRPr sz="1000" b="1">
              <a:solidFill>
                <a:srgbClr val="B02A3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103"/>
          <p:cNvSpPr/>
          <p:nvPr/>
        </p:nvSpPr>
        <p:spPr>
          <a:xfrm>
            <a:off x="3242220" y="4919861"/>
            <a:ext cx="1150000" cy="315468"/>
          </a:xfrm>
          <a:prstGeom prst="roundRect">
            <a:avLst/>
          </a:prstGeom>
          <a:solidFill>
            <a:srgbClr val="E6F4E6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104"/>
          <p:cNvSpPr txBox="1"/>
          <p:nvPr/>
        </p:nvSpPr>
        <p:spPr>
          <a:xfrm>
            <a:off x="3242220" y="4919861"/>
            <a:ext cx="1150000" cy="3154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✅ 已完成</a:t>
            </a:r>
            <a:endParaRPr sz="100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36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11338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MiniCPM-o 4.5 · 在 vLLM-Omni 的支持进展</a:t>
            </a:r>
            <a:endParaRPr sz="2500" b="1">
              <a:solidFill>
                <a:srgbClr val="1D2F5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1480" y="713232"/>
            <a:ext cx="11338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已合入能力  ·  进行中 PR  ·  RFC 方向（截至 2026-07-25）</a:t>
            </a:r>
            <a:endParaRPr sz="13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411480" y="1188720"/>
            <a:ext cx="5532120" cy="3150000"/>
          </a:xfrm>
          <a:prstGeom prst="roundRect">
            <a:avLst/>
          </a:prstGeom>
          <a:solidFill>
            <a:srgbClr val="F1F3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2"/>
            </p:custDataLst>
          </p:nvPr>
        </p:nvSpPr>
        <p:spPr>
          <a:xfrm>
            <a:off x="411480" y="1188720"/>
            <a:ext cx="5532120" cy="475488"/>
          </a:xfrm>
          <a:prstGeom prst="roundRect">
            <a:avLst/>
          </a:prstGeom>
          <a:solidFill>
            <a:srgbClr val="E1E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576072" y="1188720"/>
            <a:ext cx="520293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2E7D32"/>
                </a:solidFill>
                <a:latin typeface="微软雅黑" panose="020B0503020204020204" charset="-122"/>
                <a:ea typeface="微软雅黑" panose="020B0503020204020204" charset="-122"/>
              </a:rPr>
              <a:t>已支持（已合入 main）</a:t>
            </a:r>
            <a:endParaRPr sz="12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594360" y="1720000"/>
            <a:ext cx="5202936" cy="25927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E7D32"/>
                </a:solidFill>
                <a:latin typeface="微软雅黑" panose="020B0503020204020204" charset="-122"/>
              </a:rPr>
              <a:t>模型能力与接口</a:t>
            </a:r>
            <a:endParaRPr sz="1200" b="0">
              <a:solidFill>
                <a:srgbClr val="45454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454545"/>
                </a:solidFill>
                <a:latin typeface="微软雅黑" panose="020B0503020204020204" charset="-122"/>
              </a:rPr>
              <a:t>• #3642 基础支持 · Thinker→Talker 流水线</a:t>
            </a:r>
            <a:endParaRPr sz="1200" b="0">
              <a:solidFill>
                <a:srgbClr val="454545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454545"/>
                </a:solidFill>
                <a:latin typeface="微软雅黑" panose="020B0503020204020204" charset="-122"/>
              </a:rPr>
              <a:t>• OpenAI /v1/chat：文本 + 24kHz 语音输出</a:t>
            </a:r>
            <a:endParaRPr sz="1200" b="0">
              <a:solidFill>
                <a:srgbClr val="454545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454545"/>
                </a:solidFill>
                <a:latin typeface="微软雅黑" panose="020B0503020204020204" charset="-122"/>
              </a:rPr>
              <a:t>• MiniCPMTTS + Token2Wav 分块流式（省显存）</a:t>
            </a:r>
            <a:endParaRPr sz="1200" b="0">
              <a:solidFill>
                <a:srgbClr val="454545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454545"/>
                </a:solidFill>
                <a:latin typeface="微软雅黑" panose="020B0503020204020204" charset="-122"/>
              </a:rPr>
              <a:t>• Whisper 音频 + SigLIP 视觉 + 3D Resampler</a:t>
            </a:r>
            <a:endParaRPr sz="1200" b="0">
              <a:solidFill>
                <a:srgbClr val="454545"/>
              </a:solidFill>
              <a:latin typeface="微软雅黑" panose="020B0503020204020204" charset="-122"/>
            </a:endParaRPr>
          </a:p>
          <a:p>
            <a:pPr algn="l">
              <a:spcBef>
                <a:spcPts val="500"/>
              </a:spcBef>
            </a:pPr>
            <a:r>
              <a:rPr sz="1200" b="1">
                <a:solidFill>
                  <a:srgbClr val="2E7D32"/>
                </a:solidFill>
                <a:latin typeface="微软雅黑" panose="020B0503020204020204" charset="-122"/>
              </a:rPr>
              <a:t>性能与硬件</a:t>
            </a:r>
            <a:endParaRPr sz="1200" b="1">
              <a:solidFill>
                <a:srgbClr val="2E7D32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454545"/>
                </a:solidFill>
                <a:latin typeface="微软雅黑" panose="020B0503020204020204" charset="-122"/>
              </a:rPr>
              <a:t>• #5228 三阶段拆分 + 批量 Code2Wav + async chunk</a:t>
            </a:r>
            <a:endParaRPr sz="1200" b="0">
              <a:solidFill>
                <a:srgbClr val="454545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454545"/>
                </a:solidFill>
                <a:latin typeface="微软雅黑" panose="020B0503020204020204" charset="-122"/>
              </a:rPr>
              <a:t>• #5130 SigLIP position IDs 优化</a:t>
            </a:r>
            <a:endParaRPr sz="1200" b="0">
              <a:solidFill>
                <a:srgbClr val="454545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454545"/>
                </a:solidFill>
                <a:latin typeface="微软雅黑" panose="020B0503020204020204" charset="-122"/>
              </a:rPr>
              <a:t>•</a:t>
            </a:r>
            <a:r>
              <a:rPr lang="en-US" sz="1200" b="0">
                <a:solidFill>
                  <a:srgbClr val="454545"/>
                </a:solidFill>
                <a:latin typeface="微软雅黑" panose="020B0503020204020204" charset="-122"/>
              </a:rPr>
              <a:t> </a:t>
            </a:r>
            <a:r>
              <a:rPr sz="1200" b="0">
                <a:solidFill>
                  <a:srgbClr val="454545"/>
                </a:solidFill>
                <a:latin typeface="微软雅黑" panose="020B0503020204020204" charset="-122"/>
              </a:rPr>
              <a:t>#5117 Ascend NPU</a:t>
            </a:r>
            <a:endParaRPr sz="1200" b="0">
              <a:solidFill>
                <a:srgbClr val="454545"/>
              </a:solidFill>
              <a:latin typeface="微软雅黑" panose="020B0503020204020204" charset="-122"/>
            </a:endParaRPr>
          </a:p>
          <a:p>
            <a:pPr algn="l">
              <a:spcBef>
                <a:spcPts val="500"/>
              </a:spcBef>
            </a:pPr>
            <a:r>
              <a:rPr sz="1200" b="1">
                <a:solidFill>
                  <a:srgbClr val="2E7D32"/>
                </a:solidFill>
                <a:latin typeface="微软雅黑" panose="020B0503020204020204" charset="-122"/>
              </a:rPr>
              <a:t>全双工与工程化</a:t>
            </a:r>
            <a:endParaRPr sz="1200" b="1">
              <a:solidFill>
                <a:srgbClr val="2E7D32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454545"/>
                </a:solidFill>
                <a:latin typeface="微软雅黑" panose="020B0503020204020204" charset="-122"/>
              </a:rPr>
              <a:t>• #3907 Full-Duplex 运行时 + 4.5 demo</a:t>
            </a:r>
            <a:endParaRPr sz="1200" b="0">
              <a:solidFill>
                <a:srgbClr val="454545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454545"/>
                </a:solidFill>
                <a:latin typeface="微软雅黑" panose="020B0503020204020204" charset="-122"/>
              </a:rPr>
              <a:t>• #5301 / #5233 / #5116 缺陷修复</a:t>
            </a:r>
            <a:endParaRPr sz="1200" b="0">
              <a:solidFill>
                <a:srgbClr val="454545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454545"/>
                </a:solidFill>
                <a:latin typeface="微软雅黑" panose="020B0503020204020204" charset="-122"/>
              </a:rPr>
              <a:t>• #5222 离线/在线示例 · core-model 单测</a:t>
            </a:r>
            <a:endParaRPr sz="1200" b="0">
              <a:solidFill>
                <a:srgbClr val="454545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5"/>
            </p:custDataLst>
          </p:nvPr>
        </p:nvSpPr>
        <p:spPr>
          <a:xfrm>
            <a:off x="6217920" y="1188720"/>
            <a:ext cx="5532120" cy="3150000"/>
          </a:xfrm>
          <a:prstGeom prst="roundRect">
            <a:avLst/>
          </a:prstGeom>
          <a:solidFill>
            <a:srgbClr val="F1F3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>
            <p:custDataLst>
              <p:tags r:id="rId6"/>
            </p:custDataLst>
          </p:nvPr>
        </p:nvSpPr>
        <p:spPr>
          <a:xfrm>
            <a:off x="6217920" y="1188720"/>
            <a:ext cx="5532120" cy="475488"/>
          </a:xfrm>
          <a:prstGeom prst="roundRect">
            <a:avLst/>
          </a:prstGeom>
          <a:solidFill>
            <a:srgbClr val="FFDD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6382512" y="1188720"/>
            <a:ext cx="520293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</a:rPr>
              <a:t>进行中 PR（待合入）</a:t>
            </a:r>
            <a:endParaRPr sz="1250" b="1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6400800" y="1720000"/>
            <a:ext cx="5202936" cy="15411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500"/>
              </a:spcBef>
            </a:pPr>
            <a:r>
              <a:rPr sz="1200" b="1">
                <a:solidFill>
                  <a:srgbClr val="B45309"/>
                </a:solidFill>
                <a:latin typeface="微软雅黑" panose="020B0503020204020204" charset="-122"/>
              </a:rPr>
              <a:t>性能优化</a:t>
            </a:r>
            <a:endParaRPr sz="1200" b="1">
              <a:solidFill>
                <a:srgbClr val="B45309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454545"/>
                </a:solidFill>
                <a:latin typeface="微软雅黑" panose="020B0503020204020204" charset="-122"/>
              </a:rPr>
              <a:t>• #5188 编码器显存（批量 SigLIP 切片）</a:t>
            </a:r>
            <a:endParaRPr sz="1200" b="0">
              <a:solidFill>
                <a:srgbClr val="454545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454545"/>
                </a:solidFill>
                <a:latin typeface="微软雅黑" panose="020B0503020204020204" charset="-122"/>
              </a:rPr>
              <a:t>• #5165 复用 FlashAttention unpad 元数据</a:t>
            </a:r>
            <a:endParaRPr sz="1200" b="0">
              <a:solidFill>
                <a:srgbClr val="454545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454545"/>
                </a:solidFill>
                <a:latin typeface="微软雅黑" panose="020B0503020204020204" charset="-122"/>
              </a:rPr>
              <a:t>• #5318 去掉 Resampler ~900ms cudaSync</a:t>
            </a:r>
            <a:endParaRPr sz="1200" b="0">
              <a:solidFill>
                <a:srgbClr val="454545"/>
              </a:solidFill>
              <a:latin typeface="微软雅黑" panose="020B0503020204020204" charset="-122"/>
            </a:endParaRPr>
          </a:p>
          <a:p>
            <a:pPr algn="l">
              <a:spcBef>
                <a:spcPts val="500"/>
              </a:spcBef>
            </a:pPr>
            <a:r>
              <a:rPr sz="1200" b="1">
                <a:solidFill>
                  <a:srgbClr val="B45309"/>
                </a:solidFill>
                <a:latin typeface="微软雅黑" panose="020B0503020204020204" charset="-122"/>
              </a:rPr>
              <a:t>测试 · 基准 · 新模型</a:t>
            </a:r>
            <a:endParaRPr sz="1200" b="1">
              <a:solidFill>
                <a:srgbClr val="B45309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454545"/>
                </a:solidFill>
                <a:latin typeface="微软雅黑" panose="020B0503020204020204" charset="-122"/>
              </a:rPr>
              <a:t>• #5237 / #5356 端到端测试与回归</a:t>
            </a:r>
            <a:endParaRPr sz="1200" b="0">
              <a:solidFill>
                <a:srgbClr val="454545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454545"/>
                </a:solidFill>
                <a:latin typeface="微软雅黑" panose="020B0503020204020204" charset="-122"/>
              </a:rPr>
              <a:t>• #5112 / #5220 / #5102 性能基准</a:t>
            </a:r>
            <a:endParaRPr sz="1200" b="0">
              <a:solidFill>
                <a:srgbClr val="454545"/>
              </a:solidFill>
              <a:latin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454545"/>
                </a:solidFill>
                <a:latin typeface="微软雅黑" panose="020B0503020204020204" charset="-122"/>
              </a:rPr>
              <a:t>• #4387 MiniCPM-o 2.6 支持</a:t>
            </a:r>
            <a:endParaRPr sz="1200" b="0">
              <a:solidFill>
                <a:srgbClr val="454545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5760" y="6510528"/>
            <a:ext cx="8229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vLLM-Omni · Speech Model Support &amp; Optimization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332720" y="6510528"/>
            <a:ext cx="1463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微软雅黑" panose="020B0503020204020204" charset="-122"/>
                <a:ea typeface="微软雅黑" panose="020B0503020204020204" charset="-122"/>
              </a:rPr>
              <a:t>18 / 19</a:t>
            </a:r>
            <a:endParaRPr sz="1000" b="0">
              <a:solidFill>
                <a:srgbClr val="6B728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4"/>
          <p:cNvSpPr/>
          <p:nvPr>
            <p:custDataLst>
              <p:tags r:id="rId9"/>
            </p:custDataLst>
          </p:nvPr>
        </p:nvSpPr>
        <p:spPr>
          <a:xfrm>
            <a:off x="411480" y="4458970"/>
            <a:ext cx="11338560" cy="1434465"/>
          </a:xfrm>
          <a:prstGeom prst="roundRect">
            <a:avLst/>
          </a:prstGeom>
          <a:solidFill>
            <a:srgbClr val="F1F3F7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5"/>
          <p:cNvSpPr/>
          <p:nvPr>
            <p:custDataLst>
              <p:tags r:id="rId10"/>
            </p:custDataLst>
          </p:nvPr>
        </p:nvSpPr>
        <p:spPr>
          <a:xfrm>
            <a:off x="411480" y="4458720"/>
            <a:ext cx="11338560" cy="420000"/>
          </a:xfrm>
          <a:prstGeom prst="roundRect">
            <a:avLst/>
          </a:prstGeom>
          <a:solidFill>
            <a:srgbClr val="DD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6"/>
          <p:cNvSpPr txBox="1"/>
          <p:nvPr>
            <p:custDataLst>
              <p:tags r:id="rId11"/>
            </p:custDataLst>
          </p:nvPr>
        </p:nvSpPr>
        <p:spPr>
          <a:xfrm>
            <a:off x="576072" y="4458720"/>
            <a:ext cx="11018560" cy="42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RFC · 后续优化方向（截至 2026-07-25）</a:t>
            </a:r>
            <a:endParaRPr sz="12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5"/>
          <p:cNvSpPr/>
          <p:nvPr>
            <p:custDataLst>
              <p:tags r:id="rId12"/>
            </p:custDataLst>
          </p:nvPr>
        </p:nvSpPr>
        <p:spPr>
          <a:xfrm>
            <a:off x="571480" y="4980000"/>
            <a:ext cx="5409280" cy="7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6"/>
          <p:cNvSpPr txBox="1"/>
          <p:nvPr>
            <p:custDataLst>
              <p:tags r:id="rId13"/>
            </p:custDataLst>
          </p:nvPr>
        </p:nvSpPr>
        <p:spPr>
          <a:xfrm>
            <a:off x="681480" y="5050000"/>
            <a:ext cx="5189280" cy="2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RFC #5370 · 算子融合与高效算子替换</a:t>
            </a:r>
            <a:endParaRPr sz="12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6"/>
          <p:cNvSpPr txBox="1"/>
          <p:nvPr>
            <p:custDataLst>
              <p:tags r:id="rId14"/>
            </p:custDataLst>
          </p:nvPr>
        </p:nvSpPr>
        <p:spPr>
          <a:xfrm>
            <a:off x="681480" y="5320000"/>
            <a:ext cx="518928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融合 / 替换热点算子，继续压缩单步延迟</a:t>
            </a:r>
            <a:endParaRPr sz="12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ounded Rectangle 5"/>
          <p:cNvSpPr/>
          <p:nvPr>
            <p:custDataLst>
              <p:tags r:id="rId15"/>
            </p:custDataLst>
          </p:nvPr>
        </p:nvSpPr>
        <p:spPr>
          <a:xfrm>
            <a:off x="6180760" y="4980000"/>
            <a:ext cx="5409280" cy="700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6"/>
          <p:cNvSpPr txBox="1"/>
          <p:nvPr>
            <p:custDataLst>
              <p:tags r:id="rId16"/>
            </p:custDataLst>
          </p:nvPr>
        </p:nvSpPr>
        <p:spPr>
          <a:xfrm>
            <a:off x="6290760" y="5050000"/>
            <a:ext cx="5189280" cy="25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1D2F50"/>
                </a:solidFill>
                <a:latin typeface="微软雅黑" panose="020B0503020204020204" charset="-122"/>
                <a:ea typeface="微软雅黑" panose="020B0503020204020204" charset="-122"/>
              </a:rPr>
              <a:t>RFC #5069 · 性能加速路线</a:t>
            </a:r>
            <a:endParaRPr sz="12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6"/>
          <p:cNvSpPr txBox="1"/>
          <p:nvPr>
            <p:custDataLst>
              <p:tags r:id="rId17"/>
            </p:custDataLst>
          </p:nvPr>
        </p:nvSpPr>
        <p:spPr>
          <a:xfrm>
            <a:off x="6290760" y="5320000"/>
            <a:ext cx="5189280" cy="3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0">
                <a:solidFill>
                  <a:srgbClr val="454545"/>
                </a:solidFill>
                <a:latin typeface="微软雅黑" panose="020B0503020204020204" charset="-122"/>
                <a:ea typeface="微软雅黑" panose="020B0503020204020204" charset="-122"/>
              </a:rPr>
              <a:t>阶段并行 · 批处理 · Graph 覆盖的整体规划</a:t>
            </a:r>
            <a:endParaRPr sz="1250" b="1">
              <a:solidFill>
                <a:srgbClr val="2E7D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D2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F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0584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Thank You</a:t>
            </a:r>
            <a:endParaRPr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89.44,&quot;left&quot;:75.6,&quot;top&quot;:120.96,&quot;width&quot;:781.2}"/>
</p:tagLst>
</file>

<file path=ppt/tags/tag2.xml><?xml version="1.0" encoding="utf-8"?>
<p:tagLst xmlns:p="http://schemas.openxmlformats.org/presentationml/2006/main">
  <p:tag name="KSO_WM_DIAGRAM_VIRTUALLY_FRAME" val="{&quot;height&quot;:289.44,&quot;left&quot;:75.6,&quot;top&quot;:120.96,&quot;width&quot;:781.2}"/>
</p:tagLst>
</file>

<file path=ppt/tags/tag3.xml><?xml version="1.0" encoding="utf-8"?>
<p:tagLst xmlns:p="http://schemas.openxmlformats.org/presentationml/2006/main">
  <p:tag name="KSO_WM_DIAGRAM_VIRTUALLY_FRAME" val="{&quot;height&quot;:289.44,&quot;left&quot;:75.6,&quot;top&quot;:120.96,&quot;width&quot;:781.2}"/>
</p:tagLst>
</file>

<file path=ppt/tags/tag4.xml><?xml version="1.0" encoding="utf-8"?>
<p:tagLst xmlns:p="http://schemas.openxmlformats.org/presentationml/2006/main">
  <p:tag name="KSO_WM_DIAGRAM_VIRTUALLY_FRAME" val="{&quot;height&quot;:289.44,&quot;left&quot;:75.6,&quot;top&quot;:120.96,&quot;width&quot;:781.2}"/>
</p:tagLst>
</file>

<file path=ppt/tags/tag5.xml><?xml version="1.0" encoding="utf-8"?>
<p:tagLst xmlns:p="http://schemas.openxmlformats.org/presentationml/2006/main">
  <p:tag name="KSO_WM_DIAGRAM_VIRTUALLY_FRAME" val="{&quot;height&quot;:289.44,&quot;left&quot;:75.6,&quot;top&quot;:120.96,&quot;width&quot;:781.2}"/>
</p:tagLst>
</file>

<file path=ppt/tags/tag6.xml><?xml version="1.0" encoding="utf-8"?>
<p:tagLst xmlns:p="http://schemas.openxmlformats.org/presentationml/2006/main">
  <p:tag name="KSO_WM_DIAGRAM_VIRTUALLY_FRAME" val="{&quot;height&quot;:289.44,&quot;left&quot;:75.6,&quot;top&quot;:120.96,&quot;width&quot;:781.2}"/>
</p:tagLst>
</file>

<file path=ppt/tags/tag7.xml><?xml version="1.0" encoding="utf-8"?>
<p:tagLst xmlns:p="http://schemas.openxmlformats.org/presentationml/2006/main">
  <p:tag name="KSO_WM_DIAGRAM_VIRTUALLY_FRAME" val="{&quot;height&quot;:289.44,&quot;left&quot;:75.6,&quot;top&quot;:120.96,&quot;width&quot;:781.2}"/>
</p:tagLst>
</file>

<file path=ppt/tags/tag8.xml><?xml version="1.0" encoding="utf-8"?>
<p:tagLst xmlns:p="http://schemas.openxmlformats.org/presentationml/2006/main">
  <p:tag name="KSO_WM_DIAGRAM_VIRTUALLY_FRAME" val="{&quot;height&quot;:289.44,&quot;left&quot;:75.6,&quot;top&quot;:120.96,&quot;width&quot;:781.2}"/>
</p:tagLst>
</file>

<file path=ppt/tags/tag9.xml><?xml version="1.0" encoding="utf-8"?>
<p:tagLst xmlns:p="http://schemas.openxmlformats.org/presentationml/2006/main">
  <p:tag name="KSO_WM_DIAGRAM_VIRTUALLY_FRAME" val="{&quot;height&quot;:289.44,&quot;left&quot;:75.6,&quot;top&quot;:120.96,&quot;width&quot;:781.2}"/>
</p:tagLst>
</file>

<file path=ppt/tags/tag10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11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12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13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14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15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16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17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18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19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20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21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22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23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24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25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26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27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28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29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30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31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32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33.xml><?xml version="1.0" encoding="utf-8"?>
<p:tagLst xmlns:p="http://schemas.openxmlformats.org/presentationml/2006/main">
  <p:tag name="KSO_WM_DIAGRAM_VIRTUALLY_FRAME" val="{&quot;height&quot;:75.59999999999995,&quot;left&quot;:32.4,&quot;top&quot;:404.64,&quot;width&quot;:892.8}"/>
</p:tagLst>
</file>

<file path=ppt/tags/tag34.xml><?xml version="1.0" encoding="utf-8"?>
<p:tagLst xmlns:p="http://schemas.openxmlformats.org/presentationml/2006/main">
  <p:tag name="KSO_WM_DIAGRAM_VIRTUALLY_FRAME" val="{&quot;height&quot;:295.91999999999996,&quot;left&quot;:28.8,&quot;top&quot;:97.2,&quot;width&quot;:900}"/>
</p:tagLst>
</file>

<file path=ppt/tags/tag35.xml><?xml version="1.0" encoding="utf-8"?>
<p:tagLst xmlns:p="http://schemas.openxmlformats.org/presentationml/2006/main">
  <p:tag name="KSO_WM_DIAGRAM_VIRTUALLY_FRAME" val="{&quot;height&quot;:295.91999999999996,&quot;left&quot;:28.8,&quot;top&quot;:97.2,&quot;width&quot;:900}"/>
</p:tagLst>
</file>

<file path=ppt/tags/tag36.xml><?xml version="1.0" encoding="utf-8"?>
<p:tagLst xmlns:p="http://schemas.openxmlformats.org/presentationml/2006/main">
  <p:tag name="KSO_WM_DIAGRAM_VIRTUALLY_FRAME" val="{&quot;height&quot;:295.91999999999996,&quot;left&quot;:28.8,&quot;top&quot;:97.2,&quot;width&quot;:900}"/>
</p:tagLst>
</file>

<file path=ppt/tags/tag37.xml><?xml version="1.0" encoding="utf-8"?>
<p:tagLst xmlns:p="http://schemas.openxmlformats.org/presentationml/2006/main">
  <p:tag name="KSO_WM_DIAGRAM_VIRTUALLY_FRAME" val="{&quot;height&quot;:295.91999999999996,&quot;left&quot;:28.8,&quot;top&quot;:97.2,&quot;width&quot;:900}"/>
</p:tagLst>
</file>

<file path=ppt/tags/tag38.xml><?xml version="1.0" encoding="utf-8"?>
<p:tagLst xmlns:p="http://schemas.openxmlformats.org/presentationml/2006/main">
  <p:tag name="KSO_WM_DIAGRAM_VIRTUALLY_FRAME" val="{&quot;height&quot;:295.91999999999996,&quot;left&quot;:28.8,&quot;top&quot;:97.2,&quot;width&quot;:900}"/>
</p:tagLst>
</file>

<file path=ppt/tags/tag39.xml><?xml version="1.0" encoding="utf-8"?>
<p:tagLst xmlns:p="http://schemas.openxmlformats.org/presentationml/2006/main">
  <p:tag name="KSO_WM_DIAGRAM_VIRTUALLY_FRAME" val="{&quot;height&quot;:295.91999999999996,&quot;left&quot;:28.8,&quot;top&quot;:97.2,&quot;width&quot;:900}"/>
</p:tagLst>
</file>

<file path=ppt/tags/tag40.xml><?xml version="1.0" encoding="utf-8"?>
<p:tagLst xmlns:p="http://schemas.openxmlformats.org/presentationml/2006/main">
  <p:tag name="KSO_WM_DIAGRAM_VIRTUALLY_FRAME" val="{&quot;height&quot;:295.91999999999996,&quot;left&quot;:28.8,&quot;top&quot;:97.2,&quot;width&quot;:900}"/>
</p:tagLst>
</file>

<file path=ppt/tags/tag41.xml><?xml version="1.0" encoding="utf-8"?>
<p:tagLst xmlns:p="http://schemas.openxmlformats.org/presentationml/2006/main">
  <p:tag name="KSO_WM_DIAGRAM_VIRTUALLY_FRAME" val="{&quot;height&quot;:295.91999999999996,&quot;left&quot;:28.8,&quot;top&quot;:97.2,&quot;width&quot;:900}"/>
</p:tagLst>
</file>

<file path=ppt/tags/tag42.xml><?xml version="1.0" encoding="utf-8"?>
<p:tagLst xmlns:p="http://schemas.openxmlformats.org/presentationml/2006/main">
  <p:tag name="KSO_WM_DIAGRAM_VIRTUALLY_FRAME" val="{&quot;height&quot;:295.91999999999996,&quot;left&quot;:28.8,&quot;top&quot;:97.2,&quot;width&quot;:900}"/>
</p:tagLst>
</file>

<file path=ppt/tags/tag43.xml><?xml version="1.0" encoding="utf-8"?>
<p:tagLst xmlns:p="http://schemas.openxmlformats.org/presentationml/2006/main">
  <p:tag name="KSO_WM_DIAGRAM_VIRTUALLY_FRAME" val="{&quot;height&quot;:295.91999999999996,&quot;left&quot;:28.8,&quot;top&quot;:97.2,&quot;width&quot;:900}"/>
</p:tagLst>
</file>

<file path=ppt/tags/tag44.xml><?xml version="1.0" encoding="utf-8"?>
<p:tagLst xmlns:p="http://schemas.openxmlformats.org/presentationml/2006/main">
  <p:tag name="KSO_WM_DIAGRAM_VIRTUALLY_FRAME" val="{&quot;height&quot;:295.91999999999996,&quot;left&quot;:28.8,&quot;top&quot;:97.2,&quot;width&quot;:900}"/>
</p:tagLst>
</file>

<file path=ppt/tags/tag45.xml><?xml version="1.0" encoding="utf-8"?>
<p:tagLst xmlns:p="http://schemas.openxmlformats.org/presentationml/2006/main">
  <p:tag name="KSO_WM_DIAGRAM_VIRTUALLY_FRAME" val="{&quot;height&quot;:295.91999999999996,&quot;left&quot;:28.8,&quot;top&quot;:97.2,&quot;width&quot;:900}"/>
</p:tagLst>
</file>

<file path=ppt/tags/tag46.xml><?xml version="1.0" encoding="utf-8"?>
<p:tagLst xmlns:p="http://schemas.openxmlformats.org/presentationml/2006/main">
  <p:tag name="KSO_WM_DIAGRAM_VIRTUALLY_FRAME" val="{&quot;height&quot;:295.91999999999996,&quot;left&quot;:28.8,&quot;top&quot;:97.2,&quot;width&quot;:900}"/>
</p:tagLst>
</file>

<file path=ppt/tags/tag47.xml><?xml version="1.0" encoding="utf-8"?>
<p:tagLst xmlns:p="http://schemas.openxmlformats.org/presentationml/2006/main">
  <p:tag name="KSO_WM_DIAGRAM_VIRTUALLY_FRAME" val="{&quot;height&quot;:295.91999999999996,&quot;left&quot;:28.8,&quot;top&quot;:97.2,&quot;width&quot;:900}"/>
</p:tagLst>
</file>

<file path=ppt/tags/tag48.xml><?xml version="1.0" encoding="utf-8"?>
<p:tagLst xmlns:p="http://schemas.openxmlformats.org/presentationml/2006/main">
  <p:tag name="KSO_WM_DIAGRAM_VIRTUALLY_FRAME" val="{&quot;height&quot;:295.91999999999996,&quot;left&quot;:28.8,&quot;top&quot;:97.2,&quot;width&quot;:900}"/>
</p:tagLst>
</file>

<file path=ppt/tags/tag49.xml><?xml version="1.0" encoding="utf-8"?>
<p:tagLst xmlns:p="http://schemas.openxmlformats.org/presentationml/2006/main">
  <p:tag name="KSO_WM_DIAGRAM_VIRTUALLY_FRAME" val="{&quot;height&quot;:363.6,&quot;left&quot;:32.4,&quot;top&quot;:93.6,&quot;width&quot;:897.119842519685}"/>
</p:tagLst>
</file>

<file path=ppt/tags/tag50.xml><?xml version="1.0" encoding="utf-8"?>
<p:tagLst xmlns:p="http://schemas.openxmlformats.org/presentationml/2006/main">
  <p:tag name="KSO_WM_DIAGRAM_VIRTUALLY_FRAME" val="{&quot;height&quot;:363.6,&quot;left&quot;:32.4,&quot;top&quot;:93.6,&quot;width&quot;:897.119842519685}"/>
</p:tagLst>
</file>

<file path=ppt/tags/tag51.xml><?xml version="1.0" encoding="utf-8"?>
<p:tagLst xmlns:p="http://schemas.openxmlformats.org/presentationml/2006/main">
  <p:tag name="KSO_WM_DIAGRAM_VIRTUALLY_FRAME" val="{&quot;height&quot;:363.6,&quot;left&quot;:32.4,&quot;top&quot;:93.6,&quot;width&quot;:897.119842519685}"/>
</p:tagLst>
</file>

<file path=ppt/tags/tag52.xml><?xml version="1.0" encoding="utf-8"?>
<p:tagLst xmlns:p="http://schemas.openxmlformats.org/presentationml/2006/main">
  <p:tag name="KSO_WM_DIAGRAM_VIRTUALLY_FRAME" val="{&quot;height&quot;:363.6,&quot;left&quot;:32.4,&quot;top&quot;:93.6,&quot;width&quot;:897.119842519685}"/>
</p:tagLst>
</file>

<file path=ppt/tags/tag53.xml><?xml version="1.0" encoding="utf-8"?>
<p:tagLst xmlns:p="http://schemas.openxmlformats.org/presentationml/2006/main">
  <p:tag name="KSO_WM_DIAGRAM_VIRTUALLY_FRAME" val="{&quot;height&quot;:363.6,&quot;left&quot;:32.4,&quot;top&quot;:93.6,&quot;width&quot;:897.119842519685}"/>
</p:tagLst>
</file>

<file path=ppt/tags/tag54.xml><?xml version="1.0" encoding="utf-8"?>
<p:tagLst xmlns:p="http://schemas.openxmlformats.org/presentationml/2006/main">
  <p:tag name="KSO_WM_DIAGRAM_VIRTUALLY_FRAME" val="{&quot;height&quot;:363.6,&quot;left&quot;:32.4,&quot;top&quot;:93.6,&quot;width&quot;:897.119842519685}"/>
</p:tagLst>
</file>

<file path=ppt/tags/tag55.xml><?xml version="1.0" encoding="utf-8"?>
<p:tagLst xmlns:p="http://schemas.openxmlformats.org/presentationml/2006/main">
  <p:tag name="KSO_WM_DIAGRAM_VIRTUALLY_FRAME" val="{&quot;height&quot;:363.6,&quot;left&quot;:32.4,&quot;top&quot;:93.6,&quot;width&quot;:897.119842519685}"/>
</p:tagLst>
</file>

<file path=ppt/tags/tag56.xml><?xml version="1.0" encoding="utf-8"?>
<p:tagLst xmlns:p="http://schemas.openxmlformats.org/presentationml/2006/main">
  <p:tag name="KSO_WM_DIAGRAM_VIRTUALLY_FRAME" val="{&quot;height&quot;:363.6,&quot;left&quot;:32.4,&quot;top&quot;:93.6,&quot;width&quot;:897.119842519685}"/>
</p:tagLst>
</file>

<file path=ppt/tags/tag57.xml><?xml version="1.0" encoding="utf-8"?>
<p:tagLst xmlns:p="http://schemas.openxmlformats.org/presentationml/2006/main">
  <p:tag name="KSO_WM_DIAGRAM_VIRTUALLY_FRAME" val="{&quot;height&quot;:363.6,&quot;left&quot;:32.4,&quot;top&quot;:93.6,&quot;width&quot;:897.119842519685}"/>
</p:tagLst>
</file>

<file path=ppt/tags/tag58.xml><?xml version="1.0" encoding="utf-8"?>
<p:tagLst xmlns:p="http://schemas.openxmlformats.org/presentationml/2006/main">
  <p:tag name="KSO_WM_DIAGRAM_VIRTUALLY_FRAME" val="{&quot;height&quot;:363.6,&quot;left&quot;:32.4,&quot;top&quot;:93.6,&quot;width&quot;:897.119842519685}"/>
</p:tagLst>
</file>

<file path=ppt/tags/tag59.xml><?xml version="1.0" encoding="utf-8"?>
<p:tagLst xmlns:p="http://schemas.openxmlformats.org/presentationml/2006/main">
  <p:tag name="KSO_WM_DIAGRAM_VIRTUALLY_FRAME" val="{&quot;height&quot;:363.6,&quot;left&quot;:32.4,&quot;top&quot;:93.6,&quot;width&quot;:897.119842519685}"/>
</p:tagLst>
</file>

<file path=ppt/tags/tag60.xml><?xml version="1.0" encoding="utf-8"?>
<p:tagLst xmlns:p="http://schemas.openxmlformats.org/presentationml/2006/main">
  <p:tag name="KSO_WM_DIAGRAM_VIRTUALLY_FRAME" val="{&quot;height&quot;:363.6,&quot;left&quot;:32.4,&quot;top&quot;:93.6,&quot;width&quot;:897.119842519685}"/>
</p:tagLst>
</file>

<file path=ppt/tags/tag61.xml><?xml version="1.0" encoding="utf-8"?>
<p:tagLst xmlns:p="http://schemas.openxmlformats.org/presentationml/2006/main">
  <p:tag name="KSO_WM_DIAGRAM_VIRTUALLY_FRAME" val="{&quot;height&quot;:363.6,&quot;left&quot;:32.4,&quot;top&quot;:93.6,&quot;width&quot;:897.119842519685}"/>
</p:tagLst>
</file>

<file path=ppt/tags/tag62.xml><?xml version="1.0" encoding="utf-8"?>
<p:tagLst xmlns:p="http://schemas.openxmlformats.org/presentationml/2006/main">
  <p:tag name="KSO_WM_DIAGRAM_VIRTUALLY_FRAME" val="{&quot;height&quot;:363.6,&quot;left&quot;:32.4,&quot;top&quot;:93.6,&quot;width&quot;:897.119842519685}"/>
</p:tagLst>
</file>

<file path=ppt/tags/tag63.xml><?xml version="1.0" encoding="utf-8"?>
<p:tagLst xmlns:p="http://schemas.openxmlformats.org/presentationml/2006/main">
  <p:tag name="KSO_WM_DIAGRAM_VIRTUALLY_FRAME" val="{&quot;height&quot;:363.6,&quot;left&quot;:32.4,&quot;top&quot;:93.6,&quot;width&quot;:897.119842519685}"/>
</p:tagLst>
</file>

<file path=ppt/tags/tag64.xml><?xml version="1.0" encoding="utf-8"?>
<p:tagLst xmlns:p="http://schemas.openxmlformats.org/presentationml/2006/main">
  <p:tag name="KSO_WM_DIAGRAM_VIRTUALLY_FRAME" val="{&quot;height&quot;:363.6,&quot;left&quot;:32.4,&quot;top&quot;:93.6,&quot;width&quot;:897.119842519685}"/>
</p:tagLst>
</file>

<file path=ppt/tags/tag65.xml><?xml version="1.0" encoding="utf-8"?>
<p:tagLst xmlns:p="http://schemas.openxmlformats.org/presentationml/2006/main">
  <p:tag name="KSO_WM_DIAGRAM_VIRTUALLY_FRAME" val="{&quot;height&quot;:363.6,&quot;left&quot;:32.4,&quot;top&quot;:93.6,&quot;width&quot;:897.11984251968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7683</Words>
  <Application>WPS 演示</Application>
  <PresentationFormat>On-screen Show (4:3)</PresentationFormat>
  <Paragraphs>588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Arial</vt:lpstr>
      <vt:lpstr>Lexend</vt:lpstr>
      <vt:lpstr>Segoe Print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why</cp:lastModifiedBy>
  <cp:revision>54</cp:revision>
  <dcterms:created xsi:type="dcterms:W3CDTF">2013-01-27T09:14:00Z</dcterms:created>
  <dcterms:modified xsi:type="dcterms:W3CDTF">2026-07-26T04:07:48Z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3804037542214CEFAA0B5E9BD944B174_12</vt:lpwstr>
  </property>
</Properties>
</file>